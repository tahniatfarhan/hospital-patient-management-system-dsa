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Speaker: Speaker 1
Script:
"Assalam-o-Alaikum everyone. We are here today to present our Final Term Lab Project for CMPE 212 — Data Structures and Algorithms.
Our project is the Hospital Patient Management System. The core idea of this system is to use two different data structures — a Binary Search Tree for normal patients, and an AVL Tree for emergency and urgent patients — each chosen for a specific reason that we will explain in the coming slides.
Our group members are Tahniat Farhan, Aleeha Chishti, and Qamroshay Khan.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Problem Statement
Speaker: Speaker 1
Script:
"So what exactly is the problem we are solving?
Hospitals deal with two very different types of patients at the same time. Normal patients are here for routine checkups or non-critical conditions — for them, we just need to find records quickly by their patient ID. That is straightforward.
But emergency patients are a different story. For them, it is not enough to search by ID. We need to know WHO is most critical RIGHT NOW. We need patients sorted by urgency, and we need that retrieval to be fast — guaranteed fast, not just fast on average.
A plain Binary Search Tree cannot guarantee that. If patient IDs are inserted in order, the BST becomes a straight line — a linked list — and every search takes O(n) time. That is unacceptable in an emergency.
Our solution is to use TWO separate trees. The BST handles normal patients, keyed by ID. The AVL Tree handles emergency and urgent patients, keyed by priority first, then ID. This way, just reading the AVL Tree in order gives us a triage list — most critical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Objectives
Speaker: Speaker 1
Script:
"Let me walk you through the six objectives of this project.
Objective one and two are the most important — they define the entire architecture. BST for normal patients, AVL for emergency patients. Everything else follows from this.
Objective three is implementing all four rotation cases in the AVL Tree — LL, RR, LR, and RL. Without all four, the tree does not stay balanced in every scenario.
Objective four addresses a bug in AVL deletion. We will talk about this in more detail later, but the short version is: when deleting a node with one child, you must copy only the patient data — not the node's left and right pointers. Copying the pointers causes memory errors.
Objectives five and six are about clean software design — separating the display function into its own file, and making the menu system automatically route each patient to the right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BST vs AVL Comparison
Speaker: Speaker 1
Script:
"This table summarises exactly why we chose each data structure for each patient type.
Look at the row highlighted in red — worst case for BST is O(n). This happens when patient IDs are inserted in order, which is exactly what happens in a real hospital when IDs are auto-generated. The tree becomes completely skewed — just a straight line — and every search has to go through every node.
For emergency patients, O(n) is not acceptable. That is why we use the AVL Tree, which guarantees O(log n) in every case, no matter what order patients are inserted.
The other key difference is the tree key. The BST is keyed by patient ID, so its inorder traversal gives you a list sorted by ID — useful for record-keeping. The AVL Tree is keyed by priority first, then ID, so its inorder traversal gives you a list sorted by urgency — emergency cases first. This is automatic triage output, with no extra sorting step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System Architecture
Speaker: Speaker 2
Script:
"Now let me show you how the system actually works from a structural point of view.
When a new patient is added, the first thing the system does is check their priority. If the priority is NORMAL, the patient goes into the BST — what we call normalTree. If the priority is EMERGENCY or URGENT, the patient goes into the AVL Tree — emergencyTree.
This routing happens in main.cpp with a simple if-else check. No patient is stored in both trees. They are completely independent.
On the left you can see the BST — it organises records by patient ID and gives O(log n) average performance for lookups.
On the right is the AVL Tree — keyed by priority first. Its inorder traversal automatically outputs the most critical patients at the top.
This separation is the core of the project. Two trees, two patient types, each tree doing exactly what it is best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AVL Rotations
Speaker: Speaker 2
Script:
"This slide shows the four rotation cases that keep the AVL Tree balanced.
The balance factor of a node is the height of its left subtree minus the height of its right subtree. When this value goes below minus one or above plus one, the tree is unbalanced and a rotation is needed.
LL case — the new node was inserted to the left of the left child. We fix this with a single right rotation. Z comes down, Y becomes the new root, and Z takes Y's old right child.
RR case — the mirror image. New node to the right of the right child. Single left rotation.
LR case — new node to the right of the left child. We need two steps: first a left rotation on the left child, then a right rotation on the root.
RL case — the mirror of LR. Right of the right child has a left insertion. Right rotate the right child, then left rotate the root.
Every rotation takes O(1) time — it is just reassigning a few pointers. After the rotation, heights are updated bottom-up."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Key Code Highlights
Speaker: Speaker 2
Script:
"This slide highlights three critical pieces of code in our implementation.
Top left — the routing logic in main.cpp. This is where a patient gets assigned to a tree. One if-else, two lines. If priority is NORMAL, it goes to the BST. Everything else goes to the AVL Tree.
Top right — the composite key in AVL.h. The compareKey function first compares by priority. Since EMERGENCY equals one and URGENT equals two, emergency patients always go to the left side of the tree. Only when two patients have the same priority does the comparison fall back to patient ID as a tiebreaker.
Bottom — the deletion bug fix. The wrong version does star-node equals star-temp, which copies the entire AVLNode struct — including the left and right child pointers. This means both node and temp now point to the same children. When temp is deleted, those children become dangling pointers, and deleting the tree later causes a double-free crash.
The correct version copies only the data field, then manually reassigns left, right, and height. Then it is safe to delete temp."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Demo Output
Speaker: Speaker 2
Script:
"Here is the actual output of our program after loading the sample data.
The top section shows the BST inorder traversal. You can see five normal patients listed in order of their patient ID — 150, 180, 250, 320, 400. This is the sorted-by-ID record list you would use for routine lookups.
The bottom section shows the AVL Tree inorder traversal. This is the triage list. Notice that all four EMERGENCY patients — Usman Tariq, Hassan Ali, Sana Malik, and Imran Sheikh — are listed first. Then the two URGENT patients follow — Ahmed Raza and Fatima Noor.
This ordering happens automatically because the AVL Tree is keyed by priority. We did not sort this list after the fact. The tree structure itself produced it. That is the power of choosing the right key for your data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Results &amp; Performance
Speaker: Speaker 3
Script:
"Let us look at the performance results.
For most operations — insert, delete — both trees run in O(log n). The difference shows up in the worst case row. BST worst case is O(n) when the tree becomes skewed. AVL worst case is still O(log n) because the tree self-balances after every insertion and deletion.
The height comparison is the most visual way to see this. With six nodes, a skewed BST can reach height six. Our AVL Tree with the same six nodes has height three. Half the height means roughly half the number of comparisons in a search.
There is one trade-off worth mentioning — searching the AVL Tree by patient ID is O(n). This is because patient ID is the secondary key in our AVL tree. The tree is not organised by ID, so we have to scan all nodes to find a specific ID. However, this is acceptable because emergency patients are identified by priority in a triage setting, not by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Conclusion
Speaker: Speaker 3
Script:
"To conclude, let me summarise what this project demonstrates.
We used two data structures with clear, separate responsibilities. The BST is the right tool for normal patients — it is simpler, and O(log n) average performance is sufficient for routine lookups. The AVL Tree is the right tool for emergency patients — it guarantees O(log n) even in the worst case, and its key design means triage order is built into the structure itself.
We also addressed the technical correctness issues — the deletion bug, the linker issue from having display() in the wrong file, and making sure the AVL key is composite rather than ID-only.
The core lesson of this project is not just how to implement BST and AVL Trees. It is about understanding the properties of each data structure deeply enough to know which one to use, and how to configure it, for a given real-world problem.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Q&amp;A
Speaker: Speaker 3
Script:
"Thank you for your time. We are happy to answer any questions about the design decisions, the implementation, or the results.
[If asked about the composite key]:
The AVL Tree uses (priority, ID) as a composite key. Priority is the primary sort field, so all emergency patients — where priority equals one — are always to the left of urgent patients where priority equals two. Within the same priority level, patient ID acts as a tiebreaker to keep the tree deterministic.
[If asked about the deletion bug]:
The original code used star-node equals star-temp, which copies the entire AVLNode struct including the child pointers. Both nodes then point to the same children, so when the temporary node is freed, those children become dangling. Our fix copies only the data field and manually handles the pointer reassignment.
[If asked why BST is used at all]:
For normal patients, O(log n) average case is sufficient. BST is simpler to implement and has less overhead — no rotation logic needed. Since normal patients are not time-critical, occasional worst-case performance from a slightly unbalanced tree is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1A365D"/>
          </a:solidFill>
          <a:ln w="12700">
            <a:solidFill>
              <a:srgbClr val="1A365D"/>
            </a:solidFill>
            <a:prstDash val="solid"/>
          </a:ln>
        </p:spPr>
      </p:sp>
      <p:sp>
        <p:nvSpPr>
          <p:cNvPr id="3" name="Text 1"/>
          <p:cNvSpPr/>
          <p:nvPr/>
        </p:nvSpPr>
        <p:spPr>
          <a:xfrm>
            <a:off x="365760" y="137160"/>
            <a:ext cx="8412480" cy="1371600"/>
          </a:xfrm>
          <a:prstGeom prst="rect">
            <a:avLst/>
          </a:prstGeom>
          <a:noFill/>
          <a:ln/>
        </p:spPr>
        <p:txBody>
          <a:bodyPr wrap="square" rtlCol="0" anchor="ctr"/>
          <a:lstStyle/>
          <a:p>
            <a:pPr algn="l" indent="0" marL="0">
              <a:buNone/>
            </a:pPr>
            <a:r>
              <a:rPr lang="en-US" sz="4200" b="1" dirty="0">
                <a:solidFill>
                  <a:srgbClr val="FFFFFF"/>
                </a:solidFill>
                <a:latin typeface="Arial" pitchFamily="34" charset="0"/>
                <a:ea typeface="Arial" pitchFamily="34" charset="-122"/>
                <a:cs typeface="Arial" pitchFamily="34" charset="-120"/>
              </a:rPr>
              <a:t>Hospital Patient</a:t>
            </a:r>
            <a:endParaRPr lang="en-US" sz="4200" dirty="0"/>
          </a:p>
          <a:p>
            <a:pPr algn="l" indent="0" marL="0">
              <a:buNone/>
            </a:pPr>
            <a:r>
              <a:rPr lang="en-US" sz="4200" b="1" dirty="0">
                <a:solidFill>
                  <a:srgbClr val="FFFFFF"/>
                </a:solidFill>
                <a:latin typeface="Arial" pitchFamily="34" charset="0"/>
                <a:ea typeface="Arial" pitchFamily="34" charset="-122"/>
                <a:cs typeface="Arial" pitchFamily="34" charset="-120"/>
              </a:rPr>
              <a:t>Management System</a:t>
            </a:r>
            <a:endParaRPr lang="en-US" sz="4200" dirty="0"/>
          </a:p>
        </p:txBody>
      </p:sp>
      <p:sp>
        <p:nvSpPr>
          <p:cNvPr id="4" name="Shape 2"/>
          <p:cNvSpPr/>
          <p:nvPr/>
        </p:nvSpPr>
        <p:spPr>
          <a:xfrm>
            <a:off x="0" y="1645920"/>
            <a:ext cx="9144000" cy="54864"/>
          </a:xfrm>
          <a:prstGeom prst="rect">
            <a:avLst/>
          </a:prstGeom>
          <a:solidFill>
            <a:srgbClr val="000000"/>
          </a:solidFill>
          <a:ln w="12700">
            <a:solidFill>
              <a:srgbClr val="000000"/>
            </a:solidFill>
            <a:prstDash val="solid"/>
          </a:ln>
        </p:spPr>
      </p:sp>
      <p:sp>
        <p:nvSpPr>
          <p:cNvPr id="5" name="Text 3"/>
          <p:cNvSpPr/>
          <p:nvPr/>
        </p:nvSpPr>
        <p:spPr>
          <a:xfrm>
            <a:off x="365760" y="1783080"/>
            <a:ext cx="8412480" cy="384048"/>
          </a:xfrm>
          <a:prstGeom prst="rect">
            <a:avLst/>
          </a:prstGeom>
          <a:noFill/>
          <a:ln/>
        </p:spPr>
        <p:txBody>
          <a:bodyPr wrap="square" rtlCol="0" anchor="ctr"/>
          <a:lstStyle/>
          <a:p>
            <a:pPr indent="0" marL="0">
              <a:buNone/>
            </a:pPr>
            <a:r>
              <a:rPr lang="en-US" sz="1700" b="1" dirty="0">
                <a:solidFill>
                  <a:srgbClr val="1A365D"/>
                </a:solidFill>
                <a:latin typeface="Arial" pitchFamily="34" charset="0"/>
                <a:ea typeface="Arial" pitchFamily="34" charset="-122"/>
                <a:cs typeface="Arial" pitchFamily="34" charset="-120"/>
              </a:rPr>
              <a:t>Using BST (Normal Patients)  &amp;  AVL Tree (Emergency Patients)</a:t>
            </a:r>
            <a:endParaRPr lang="en-US" sz="1700" dirty="0"/>
          </a:p>
        </p:txBody>
      </p:sp>
      <p:sp>
        <p:nvSpPr>
          <p:cNvPr id="6" name="Text 4"/>
          <p:cNvSpPr/>
          <p:nvPr/>
        </p:nvSpPr>
        <p:spPr>
          <a:xfrm>
            <a:off x="365760" y="2240280"/>
            <a:ext cx="8412480" cy="292608"/>
          </a:xfrm>
          <a:prstGeom prst="rect">
            <a:avLst/>
          </a:prstGeom>
          <a:noFill/>
          <a:ln/>
        </p:spPr>
        <p:txBody>
          <a:bodyPr wrap="square" rtlCol="0" anchor="ctr"/>
          <a:lstStyle/>
          <a:p>
            <a:pPr indent="0" marL="0">
              <a:buNone/>
            </a:pPr>
            <a:r>
              <a:rPr lang="en-US" sz="1500" dirty="0">
                <a:solidFill>
                  <a:srgbClr val="444444"/>
                </a:solidFill>
                <a:latin typeface="Arial" pitchFamily="34" charset="0"/>
                <a:ea typeface="Arial" pitchFamily="34" charset="-122"/>
                <a:cs typeface="Arial" pitchFamily="34" charset="-120"/>
              </a:rPr>
              <a:t>CMPE 212  |  Data Structures &amp; Algorithms  |  Final Term Lab Project</a:t>
            </a:r>
            <a:endParaRPr lang="en-US" sz="1500" dirty="0"/>
          </a:p>
        </p:txBody>
      </p:sp>
      <p:sp>
        <p:nvSpPr>
          <p:cNvPr id="7" name="Shape 5"/>
          <p:cNvSpPr/>
          <p:nvPr/>
        </p:nvSpPr>
        <p:spPr>
          <a:xfrm>
            <a:off x="365760" y="2651760"/>
            <a:ext cx="8412480" cy="1828800"/>
          </a:xfrm>
          <a:prstGeom prst="rect">
            <a:avLst/>
          </a:prstGeom>
          <a:solidFill>
            <a:srgbClr val="FFFFFF"/>
          </a:solidFill>
          <a:ln w="12700">
            <a:solidFill>
              <a:srgbClr val="1A365D"/>
            </a:solidFill>
            <a:prstDash val="solid"/>
          </a:ln>
        </p:spPr>
      </p:sp>
      <p:sp>
        <p:nvSpPr>
          <p:cNvPr id="8" name="Shape 6"/>
          <p:cNvSpPr/>
          <p:nvPr/>
        </p:nvSpPr>
        <p:spPr>
          <a:xfrm>
            <a:off x="365760" y="2651760"/>
            <a:ext cx="8412480" cy="347472"/>
          </a:xfrm>
          <a:prstGeom prst="rect">
            <a:avLst/>
          </a:prstGeom>
          <a:solidFill>
            <a:srgbClr val="1A365D"/>
          </a:solidFill>
          <a:ln w="12700">
            <a:solidFill>
              <a:srgbClr val="1A365D"/>
            </a:solidFill>
            <a:prstDash val="solid"/>
          </a:ln>
        </p:spPr>
      </p:sp>
      <p:sp>
        <p:nvSpPr>
          <p:cNvPr id="9" name="Text 7"/>
          <p:cNvSpPr/>
          <p:nvPr/>
        </p:nvSpPr>
        <p:spPr>
          <a:xfrm>
            <a:off x="365760" y="2651760"/>
            <a:ext cx="84124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Group Members</a:t>
            </a:r>
            <a:endParaRPr lang="en-US" sz="1400" dirty="0"/>
          </a:p>
        </p:txBody>
      </p:sp>
      <p:sp>
        <p:nvSpPr>
          <p:cNvPr id="10" name="Text 8"/>
          <p:cNvSpPr/>
          <p:nvPr/>
        </p:nvSpPr>
        <p:spPr>
          <a:xfrm>
            <a:off x="1097280" y="3063240"/>
            <a:ext cx="6949440" cy="1298448"/>
          </a:xfrm>
          <a:prstGeom prst="rect">
            <a:avLst/>
          </a:prstGeom>
          <a:noFill/>
          <a:ln/>
        </p:spPr>
        <p:txBody>
          <a:bodyPr wrap="square" rtlCol="0" anchor="ctr"/>
          <a:lstStyle/>
          <a:p>
            <a:pPr marL="342900" indent="-342900">
              <a:spcAft>
                <a:spcPts val="800"/>
              </a:spcAft>
              <a:buSzPct val="100000"/>
              <a:buChar char="•"/>
            </a:pPr>
            <a:r>
              <a:rPr lang="en-US" sz="1500" dirty="0">
                <a:solidFill>
                  <a:srgbClr val="000000"/>
                </a:solidFill>
                <a:latin typeface="Arial" pitchFamily="34" charset="0"/>
                <a:ea typeface="Arial" pitchFamily="34" charset="-122"/>
                <a:cs typeface="Arial" pitchFamily="34" charset="-120"/>
              </a:rPr>
              <a:t>Tahniat Farhan       (2025(S)-CYS-15)</a:t>
            </a:r>
            <a:endParaRPr lang="en-US" sz="1500" dirty="0"/>
          </a:p>
          <a:p>
            <a:pPr marL="342900" indent="-342900">
              <a:spcAft>
                <a:spcPts val="800"/>
              </a:spcAft>
              <a:buSzPct val="100000"/>
              <a:buChar char="•"/>
            </a:pPr>
            <a:r>
              <a:rPr lang="en-US" sz="1500" dirty="0">
                <a:solidFill>
                  <a:srgbClr val="000000"/>
                </a:solidFill>
                <a:latin typeface="Arial" pitchFamily="34" charset="0"/>
                <a:ea typeface="Arial" pitchFamily="34" charset="-122"/>
                <a:cs typeface="Arial" pitchFamily="34" charset="-120"/>
              </a:rPr>
              <a:t>Aleeha Chishti         (2025(S)-CYS-43)</a:t>
            </a:r>
            <a:endParaRPr lang="en-US" sz="1500" dirty="0"/>
          </a:p>
          <a:p>
            <a:pPr marL="342900" indent="-342900">
              <a:spcAft>
                <a:spcPts val="800"/>
              </a:spcAft>
              <a:buSzPct val="100000"/>
              <a:buChar char="•"/>
            </a:pPr>
            <a:r>
              <a:rPr lang="en-US" sz="1500" dirty="0">
                <a:solidFill>
                  <a:srgbClr val="000000"/>
                </a:solidFill>
                <a:latin typeface="Arial" pitchFamily="34" charset="0"/>
                <a:ea typeface="Arial" pitchFamily="34" charset="-122"/>
                <a:cs typeface="Arial" pitchFamily="34" charset="-120"/>
              </a:rPr>
              <a:t>Qamroshay Khan    (2025(S)-CYS-46)</a:t>
            </a:r>
            <a:endParaRPr lang="en-US" sz="1500" dirty="0"/>
          </a:p>
        </p:txBody>
      </p:sp>
      <p:sp>
        <p:nvSpPr>
          <p:cNvPr id="11" name="Shape 9"/>
          <p:cNvSpPr/>
          <p:nvPr/>
        </p:nvSpPr>
        <p:spPr>
          <a:xfrm>
            <a:off x="0" y="4937760"/>
            <a:ext cx="9144000" cy="205740"/>
          </a:xfrm>
          <a:prstGeom prst="rect">
            <a:avLst/>
          </a:prstGeom>
          <a:solidFill>
            <a:srgbClr val="1A365D"/>
          </a:solidFill>
          <a:ln w="12700">
            <a:solidFill>
              <a:srgbClr val="1A365D"/>
            </a:solidFill>
            <a:prstDash val="solid"/>
          </a:ln>
        </p:spPr>
      </p:sp>
      <p:sp>
        <p:nvSpPr>
          <p:cNvPr id="12" name="Text 10"/>
          <p:cNvSpPr/>
          <p:nvPr/>
        </p:nvSpPr>
        <p:spPr>
          <a:xfrm>
            <a:off x="182880" y="4946904"/>
            <a:ext cx="8778240" cy="182880"/>
          </a:xfrm>
          <a:prstGeom prst="rect">
            <a:avLst/>
          </a:prstGeom>
          <a:noFill/>
          <a:ln/>
        </p:spPr>
        <p:txBody>
          <a:bodyPr wrap="square" lIns="0" tIns="0" rIns="0" bIns="0" rtlCol="0" anchor="ctr"/>
          <a:lstStyle/>
          <a:p>
            <a:pPr indent="0" marL="0">
              <a:buNone/>
            </a:pPr>
            <a:r>
              <a:rPr lang="en-US" sz="900" dirty="0">
                <a:solidFill>
                  <a:srgbClr val="CCDDEE"/>
                </a:solidFill>
                <a:latin typeface="Arial" pitchFamily="34" charset="0"/>
                <a:ea typeface="Arial" pitchFamily="34" charset="-122"/>
                <a:cs typeface="Arial" pitchFamily="34" charset="-120"/>
              </a:rPr>
              <a:t>UET Lahore  |  Teacher: Mr. Mujtaba Kamal Pasha  |  Session 2024-2025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65D"/>
          </a:solidFill>
          <a:ln w="12700">
            <a:solidFill>
              <a:srgbClr val="1A365D"/>
            </a:solidFill>
            <a:prstDash val="solid"/>
          </a:ln>
        </p:spPr>
      </p:sp>
      <p:sp>
        <p:nvSpPr>
          <p:cNvPr id="3" name="Text 1"/>
          <p:cNvSpPr/>
          <p:nvPr/>
        </p:nvSpPr>
        <p:spPr>
          <a:xfrm>
            <a:off x="228600" y="91440"/>
            <a:ext cx="86868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Problem Statement</a:t>
            </a:r>
            <a:endParaRPr lang="en-US" sz="2800" dirty="0"/>
          </a:p>
        </p:txBody>
      </p:sp>
      <p:sp>
        <p:nvSpPr>
          <p:cNvPr id="4" name="Shape 2"/>
          <p:cNvSpPr/>
          <p:nvPr/>
        </p:nvSpPr>
        <p:spPr>
          <a:xfrm>
            <a:off x="0" y="685800"/>
            <a:ext cx="9144000" cy="54864"/>
          </a:xfrm>
          <a:prstGeom prst="rect">
            <a:avLst/>
          </a:prstGeom>
          <a:solidFill>
            <a:srgbClr val="000000"/>
          </a:solidFill>
          <a:ln w="12700">
            <a:solidFill>
              <a:srgbClr val="000000"/>
            </a:solidFill>
            <a:prstDash val="solid"/>
          </a:ln>
        </p:spPr>
      </p:sp>
      <p:sp>
        <p:nvSpPr>
          <p:cNvPr id="5" name="Shape 3"/>
          <p:cNvSpPr/>
          <p:nvPr/>
        </p:nvSpPr>
        <p:spPr>
          <a:xfrm>
            <a:off x="0" y="4937760"/>
            <a:ext cx="9144000" cy="210312"/>
          </a:xfrm>
          <a:prstGeom prst="rect">
            <a:avLst/>
          </a:prstGeom>
          <a:solidFill>
            <a:srgbClr val="1A365D"/>
          </a:solidFill>
          <a:ln w="12700">
            <a:solidFill>
              <a:srgbClr val="1A365D"/>
            </a:solidFill>
            <a:prstDash val="solid"/>
          </a:ln>
        </p:spPr>
      </p:sp>
      <p:sp>
        <p:nvSpPr>
          <p:cNvPr id="6" name="Text 4"/>
          <p:cNvSpPr/>
          <p:nvPr/>
        </p:nvSpPr>
        <p:spPr>
          <a:xfrm>
            <a:off x="182880" y="4956048"/>
            <a:ext cx="8778240" cy="173736"/>
          </a:xfrm>
          <a:prstGeom prst="rect">
            <a:avLst/>
          </a:prstGeom>
          <a:noFill/>
          <a:ln/>
        </p:spPr>
        <p:txBody>
          <a:bodyPr wrap="square" lIns="0" tIns="0" rIns="0" bIns="0" rtlCol="0" anchor="ctr"/>
          <a:lstStyle/>
          <a:p>
            <a:pPr indent="0" marL="0">
              <a:buNone/>
            </a:pPr>
            <a:r>
              <a:rPr lang="en-US" sz="900" dirty="0">
                <a:solidFill>
                  <a:srgbClr val="CCDDEE"/>
                </a:solidFill>
                <a:latin typeface="Arial" pitchFamily="34" charset="0"/>
                <a:ea typeface="Arial" pitchFamily="34" charset="-122"/>
                <a:cs typeface="Arial" pitchFamily="34" charset="-120"/>
              </a:rPr>
              <a:t>UET Lahore  |  CMPE 212  |  Hospital Patient Management System  |  Session 2024-2025</a:t>
            </a:r>
            <a:endParaRPr lang="en-US" sz="900" dirty="0"/>
          </a:p>
        </p:txBody>
      </p:sp>
      <p:sp>
        <p:nvSpPr>
          <p:cNvPr id="7" name="Text 5"/>
          <p:cNvSpPr/>
          <p:nvPr/>
        </p:nvSpPr>
        <p:spPr>
          <a:xfrm>
            <a:off x="274320" y="822960"/>
            <a:ext cx="8595360" cy="347472"/>
          </a:xfrm>
          <a:prstGeom prst="rect">
            <a:avLst/>
          </a:prstGeom>
          <a:noFill/>
          <a:ln/>
        </p:spPr>
        <p:txBody>
          <a:bodyPr wrap="square" rtlCol="0" anchor="ctr"/>
          <a:lstStyle/>
          <a:p>
            <a:pPr indent="0" marL="0">
              <a:buNone/>
            </a:pPr>
            <a:r>
              <a:rPr lang="en-US" sz="1800" b="1" dirty="0">
                <a:solidFill>
                  <a:srgbClr val="1A365D"/>
                </a:solidFill>
                <a:latin typeface="Arial" pitchFamily="34" charset="0"/>
                <a:ea typeface="Arial" pitchFamily="34" charset="-122"/>
                <a:cs typeface="Arial" pitchFamily="34" charset="-120"/>
              </a:rPr>
              <a:t>What problem are we solving?</a:t>
            </a:r>
            <a:endParaRPr lang="en-US" sz="1800" dirty="0"/>
          </a:p>
        </p:txBody>
      </p:sp>
      <p:sp>
        <p:nvSpPr>
          <p:cNvPr id="8" name="Text 6"/>
          <p:cNvSpPr/>
          <p:nvPr/>
        </p:nvSpPr>
        <p:spPr>
          <a:xfrm>
            <a:off x="274320" y="1234440"/>
            <a:ext cx="8595360" cy="2286000"/>
          </a:xfrm>
          <a:prstGeom prst="rect">
            <a:avLst/>
          </a:prstGeom>
          <a:noFill/>
          <a:ln/>
        </p:spPr>
        <p:txBody>
          <a:bodyPr wrap="square" rtlCol="0" anchor="t"/>
          <a:lstStyle/>
          <a:p>
            <a:pPr marL="342900" indent="-342900">
              <a:spcAft>
                <a:spcPts val="600"/>
              </a:spcAft>
              <a:buSzPct val="100000"/>
              <a:buChar char="•"/>
            </a:pPr>
            <a:r>
              <a:rPr lang="en-US" sz="1700" dirty="0">
                <a:solidFill>
                  <a:srgbClr val="000000"/>
                </a:solidFill>
                <a:latin typeface="Arial" pitchFamily="34" charset="0"/>
                <a:ea typeface="Arial" pitchFamily="34" charset="-122"/>
                <a:cs typeface="Arial" pitchFamily="34" charset="-120"/>
              </a:rPr>
              <a:t>Hospitals manage two types of patients with very different needs</a:t>
            </a:r>
            <a:endParaRPr lang="en-US" sz="1700" dirty="0"/>
          </a:p>
          <a:p>
            <a:pPr marL="342900" indent="-342900">
              <a:spcAft>
                <a:spcPts val="600"/>
              </a:spcAft>
              <a:buSzPct val="100000"/>
              <a:buChar char="•"/>
            </a:pPr>
            <a:r>
              <a:rPr lang="en-US" sz="1700" dirty="0">
                <a:solidFill>
                  <a:srgbClr val="000000"/>
                </a:solidFill>
                <a:latin typeface="Arial" pitchFamily="34" charset="0"/>
                <a:ea typeface="Arial" pitchFamily="34" charset="-122"/>
                <a:cs typeface="Arial" pitchFamily="34" charset="-120"/>
              </a:rPr>
              <a:t>Normal patients: routine care — fast ID-based lookup is enough</a:t>
            </a:r>
            <a:endParaRPr lang="en-US" sz="1700" dirty="0"/>
          </a:p>
          <a:p>
            <a:pPr marL="342900" indent="-342900">
              <a:spcAft>
                <a:spcPts val="600"/>
              </a:spcAft>
              <a:buSzPct val="100000"/>
              <a:buChar char="•"/>
            </a:pPr>
            <a:r>
              <a:rPr lang="en-US" sz="1700" dirty="0">
                <a:solidFill>
                  <a:srgbClr val="000000"/>
                </a:solidFill>
                <a:latin typeface="Arial" pitchFamily="34" charset="0"/>
                <a:ea typeface="Arial" pitchFamily="34" charset="-122"/>
                <a:cs typeface="Arial" pitchFamily="34" charset="-120"/>
              </a:rPr>
              <a:t>Emergency patients: life-threatening — must retrieve by urgency, not by ID</a:t>
            </a:r>
            <a:endParaRPr lang="en-US" sz="1700" dirty="0"/>
          </a:p>
          <a:p>
            <a:pPr marL="342900" indent="-342900">
              <a:spcAft>
                <a:spcPts val="600"/>
              </a:spcAft>
              <a:buSzPct val="100000"/>
              <a:buChar char="•"/>
            </a:pPr>
            <a:r>
              <a:rPr lang="en-US" sz="1700" dirty="0">
                <a:solidFill>
                  <a:srgbClr val="000000"/>
                </a:solidFill>
                <a:latin typeface="Arial" pitchFamily="34" charset="0"/>
                <a:ea typeface="Arial" pitchFamily="34" charset="-122"/>
                <a:cs typeface="Arial" pitchFamily="34" charset="-120"/>
              </a:rPr>
              <a:t>A plain BST degrades to O(n) on sorted input — cannot be used for emergencies</a:t>
            </a:r>
            <a:endParaRPr lang="en-US" sz="1700" dirty="0"/>
          </a:p>
          <a:p>
            <a:pPr marL="342900" indent="-342900">
              <a:spcAft>
                <a:spcPts val="600"/>
              </a:spcAft>
              <a:buSzPct val="100000"/>
              <a:buChar char="•"/>
            </a:pPr>
            <a:r>
              <a:rPr lang="en-US" sz="1700" dirty="0">
                <a:solidFill>
                  <a:srgbClr val="000000"/>
                </a:solidFill>
                <a:latin typeface="Arial" pitchFamily="34" charset="0"/>
                <a:ea typeface="Arial" pitchFamily="34" charset="-122"/>
                <a:cs typeface="Arial" pitchFamily="34" charset="-120"/>
              </a:rPr>
              <a:t>We need a structure that guarantees O(log n) and sorts by priority automatically</a:t>
            </a:r>
            <a:endParaRPr lang="en-US" sz="1700" dirty="0"/>
          </a:p>
        </p:txBody>
      </p:sp>
      <p:sp>
        <p:nvSpPr>
          <p:cNvPr id="9" name="Shape 7"/>
          <p:cNvSpPr/>
          <p:nvPr/>
        </p:nvSpPr>
        <p:spPr>
          <a:xfrm>
            <a:off x="274320" y="3611880"/>
            <a:ext cx="8595360" cy="1188720"/>
          </a:xfrm>
          <a:prstGeom prst="rect">
            <a:avLst/>
          </a:prstGeom>
          <a:solidFill>
            <a:srgbClr val="EEEEEE"/>
          </a:solidFill>
          <a:ln w="12700">
            <a:solidFill>
              <a:srgbClr val="1A365D"/>
            </a:solidFill>
            <a:prstDash val="solid"/>
          </a:ln>
        </p:spPr>
      </p:sp>
      <p:sp>
        <p:nvSpPr>
          <p:cNvPr id="10" name="Text 8"/>
          <p:cNvSpPr/>
          <p:nvPr/>
        </p:nvSpPr>
        <p:spPr>
          <a:xfrm>
            <a:off x="457200" y="3657600"/>
            <a:ext cx="1828800" cy="320040"/>
          </a:xfrm>
          <a:prstGeom prst="rect">
            <a:avLst/>
          </a:prstGeom>
          <a:noFill/>
          <a:ln/>
        </p:spPr>
        <p:txBody>
          <a:bodyPr wrap="square" lIns="0" tIns="0" rIns="0" bIns="0" rtlCol="0" anchor="ctr"/>
          <a:lstStyle/>
          <a:p>
            <a:pPr indent="0" marL="0">
              <a:buNone/>
            </a:pPr>
            <a:r>
              <a:rPr lang="en-US" sz="1400" b="1" dirty="0">
                <a:solidFill>
                  <a:srgbClr val="1A365D"/>
                </a:solidFill>
                <a:latin typeface="Arial" pitchFamily="34" charset="0"/>
                <a:ea typeface="Arial" pitchFamily="34" charset="-122"/>
                <a:cs typeface="Arial" pitchFamily="34" charset="-120"/>
              </a:rPr>
              <a:t>Our Solution:</a:t>
            </a:r>
            <a:endParaRPr lang="en-US" sz="1400" dirty="0"/>
          </a:p>
        </p:txBody>
      </p:sp>
      <p:sp>
        <p:nvSpPr>
          <p:cNvPr id="11" name="Text 9"/>
          <p:cNvSpPr/>
          <p:nvPr/>
        </p:nvSpPr>
        <p:spPr>
          <a:xfrm>
            <a:off x="457200" y="4005072"/>
            <a:ext cx="8229600" cy="685800"/>
          </a:xfrm>
          <a:prstGeom prst="rect">
            <a:avLst/>
          </a:prstGeom>
          <a:noFill/>
          <a:ln/>
        </p:spPr>
        <p:txBody>
          <a:bodyPr wrap="square" rtlCol="0" anchor="t"/>
          <a:lstStyle/>
          <a:p>
            <a:pPr indent="0" marL="0">
              <a:buNone/>
            </a:pPr>
            <a:r>
              <a:rPr lang="en-US" sz="1500" b="1" dirty="0">
                <a:solidFill>
                  <a:srgbClr val="1A365D"/>
                </a:solidFill>
                <a:latin typeface="Arial" pitchFamily="34" charset="0"/>
                <a:ea typeface="Arial" pitchFamily="34" charset="-122"/>
                <a:cs typeface="Arial" pitchFamily="34" charset="-120"/>
              </a:rPr>
              <a:t>BST  </a:t>
            </a:r>
            <a:pPr indent="0" marL="0">
              <a:buNone/>
            </a:pPr>
            <a:r>
              <a:rPr lang="en-US" sz="1500" dirty="0">
                <a:solidFill>
                  <a:srgbClr val="000000"/>
                </a:solidFill>
                <a:latin typeface="Arial" pitchFamily="34" charset="0"/>
                <a:ea typeface="Arial" pitchFamily="34" charset="-122"/>
                <a:cs typeface="Arial" pitchFamily="34" charset="-120"/>
              </a:rPr>
              <a:t>→  stores NORMAL patients  (key = patient ID)
</a:t>
            </a:r>
            <a:pPr indent="0" marL="0">
              <a:buNone/>
            </a:pPr>
            <a:r>
              <a:rPr lang="en-US" sz="1500" b="1" dirty="0">
                <a:solidFill>
                  <a:srgbClr val="8B0000"/>
                </a:solidFill>
                <a:latin typeface="Arial" pitchFamily="34" charset="0"/>
                <a:ea typeface="Arial" pitchFamily="34" charset="-122"/>
                <a:cs typeface="Arial" pitchFamily="34" charset="-120"/>
              </a:rPr>
              <a:t>AVL  </a:t>
            </a:r>
            <a:pPr indent="0" marL="0">
              <a:buNone/>
            </a:pPr>
            <a:r>
              <a:rPr lang="en-US" sz="1500" dirty="0">
                <a:solidFill>
                  <a:srgbClr val="000000"/>
                </a:solidFill>
                <a:latin typeface="Arial" pitchFamily="34" charset="0"/>
                <a:ea typeface="Arial" pitchFamily="34" charset="-122"/>
                <a:cs typeface="Arial" pitchFamily="34" charset="-120"/>
              </a:rPr>
              <a:t>→  stores EMERGENCY &amp; URGENT patients  (key = priority, then ID)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65D"/>
          </a:solidFill>
          <a:ln w="12700">
            <a:solidFill>
              <a:srgbClr val="1A365D"/>
            </a:solidFill>
            <a:prstDash val="solid"/>
          </a:ln>
        </p:spPr>
      </p:sp>
      <p:sp>
        <p:nvSpPr>
          <p:cNvPr id="3" name="Text 1"/>
          <p:cNvSpPr/>
          <p:nvPr/>
        </p:nvSpPr>
        <p:spPr>
          <a:xfrm>
            <a:off x="228600" y="91440"/>
            <a:ext cx="86868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Objectives</a:t>
            </a:r>
            <a:endParaRPr lang="en-US" sz="2800" dirty="0"/>
          </a:p>
        </p:txBody>
      </p:sp>
      <p:sp>
        <p:nvSpPr>
          <p:cNvPr id="4" name="Shape 2"/>
          <p:cNvSpPr/>
          <p:nvPr/>
        </p:nvSpPr>
        <p:spPr>
          <a:xfrm>
            <a:off x="0" y="685800"/>
            <a:ext cx="9144000" cy="54864"/>
          </a:xfrm>
          <a:prstGeom prst="rect">
            <a:avLst/>
          </a:prstGeom>
          <a:solidFill>
            <a:srgbClr val="000000"/>
          </a:solidFill>
          <a:ln w="12700">
            <a:solidFill>
              <a:srgbClr val="000000"/>
            </a:solidFill>
            <a:prstDash val="solid"/>
          </a:ln>
        </p:spPr>
      </p:sp>
      <p:sp>
        <p:nvSpPr>
          <p:cNvPr id="5" name="Shape 3"/>
          <p:cNvSpPr/>
          <p:nvPr/>
        </p:nvSpPr>
        <p:spPr>
          <a:xfrm>
            <a:off x="0" y="4937760"/>
            <a:ext cx="9144000" cy="210312"/>
          </a:xfrm>
          <a:prstGeom prst="rect">
            <a:avLst/>
          </a:prstGeom>
          <a:solidFill>
            <a:srgbClr val="1A365D"/>
          </a:solidFill>
          <a:ln w="12700">
            <a:solidFill>
              <a:srgbClr val="1A365D"/>
            </a:solidFill>
            <a:prstDash val="solid"/>
          </a:ln>
        </p:spPr>
      </p:sp>
      <p:sp>
        <p:nvSpPr>
          <p:cNvPr id="6" name="Text 4"/>
          <p:cNvSpPr/>
          <p:nvPr/>
        </p:nvSpPr>
        <p:spPr>
          <a:xfrm>
            <a:off x="182880" y="4956048"/>
            <a:ext cx="8778240" cy="173736"/>
          </a:xfrm>
          <a:prstGeom prst="rect">
            <a:avLst/>
          </a:prstGeom>
          <a:noFill/>
          <a:ln/>
        </p:spPr>
        <p:txBody>
          <a:bodyPr wrap="square" lIns="0" tIns="0" rIns="0" bIns="0" rtlCol="0" anchor="ctr"/>
          <a:lstStyle/>
          <a:p>
            <a:pPr indent="0" marL="0">
              <a:buNone/>
            </a:pPr>
            <a:r>
              <a:rPr lang="en-US" sz="900" dirty="0">
                <a:solidFill>
                  <a:srgbClr val="CCDDEE"/>
                </a:solidFill>
                <a:latin typeface="Arial" pitchFamily="34" charset="0"/>
                <a:ea typeface="Arial" pitchFamily="34" charset="-122"/>
                <a:cs typeface="Arial" pitchFamily="34" charset="-120"/>
              </a:rPr>
              <a:t>UET Lahore  |  CMPE 212  |  Hospital Patient Management System  |  Session 2024-2025</a:t>
            </a:r>
            <a:endParaRPr lang="en-US" sz="900" dirty="0"/>
          </a:p>
        </p:txBody>
      </p:sp>
      <p:sp>
        <p:nvSpPr>
          <p:cNvPr id="7" name="Shape 5"/>
          <p:cNvSpPr/>
          <p:nvPr/>
        </p:nvSpPr>
        <p:spPr>
          <a:xfrm>
            <a:off x="228600" y="841248"/>
            <a:ext cx="4251960" cy="1261872"/>
          </a:xfrm>
          <a:prstGeom prst="rect">
            <a:avLst/>
          </a:prstGeom>
          <a:solidFill>
            <a:srgbClr val="FFFFFF"/>
          </a:solidFill>
          <a:ln w="12700">
            <a:solidFill>
              <a:srgbClr val="000000"/>
            </a:solidFill>
            <a:prstDash val="solid"/>
          </a:ln>
        </p:spPr>
      </p:sp>
      <p:sp>
        <p:nvSpPr>
          <p:cNvPr id="8" name="Shape 6"/>
          <p:cNvSpPr/>
          <p:nvPr/>
        </p:nvSpPr>
        <p:spPr>
          <a:xfrm>
            <a:off x="228600" y="841248"/>
            <a:ext cx="457200" cy="1261872"/>
          </a:xfrm>
          <a:prstGeom prst="rect">
            <a:avLst/>
          </a:prstGeom>
          <a:solidFill>
            <a:srgbClr val="1A365D"/>
          </a:solidFill>
          <a:ln w="12700">
            <a:solidFill>
              <a:srgbClr val="1A365D"/>
            </a:solidFill>
            <a:prstDash val="solid"/>
          </a:ln>
        </p:spPr>
      </p:sp>
      <p:sp>
        <p:nvSpPr>
          <p:cNvPr id="9" name="Text 7"/>
          <p:cNvSpPr/>
          <p:nvPr/>
        </p:nvSpPr>
        <p:spPr>
          <a:xfrm>
            <a:off x="228600" y="841248"/>
            <a:ext cx="457200" cy="126187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10" name="Text 8"/>
          <p:cNvSpPr/>
          <p:nvPr/>
        </p:nvSpPr>
        <p:spPr>
          <a:xfrm>
            <a:off x="777240" y="932688"/>
            <a:ext cx="3566160" cy="365760"/>
          </a:xfrm>
          <a:prstGeom prst="rect">
            <a:avLst/>
          </a:prstGeom>
          <a:noFill/>
          <a:ln/>
        </p:spPr>
        <p:txBody>
          <a:bodyPr wrap="square" lIns="0" tIns="0" rIns="0" bIns="0" rtlCol="0" anchor="ctr"/>
          <a:lstStyle/>
          <a:p>
            <a:pPr indent="0" marL="0">
              <a:buNone/>
            </a:pPr>
            <a:r>
              <a:rPr lang="en-US" sz="1300" b="1" dirty="0">
                <a:solidFill>
                  <a:srgbClr val="1A365D"/>
                </a:solidFill>
                <a:latin typeface="Arial" pitchFamily="34" charset="0"/>
                <a:ea typeface="Arial" pitchFamily="34" charset="-122"/>
                <a:cs typeface="Arial" pitchFamily="34" charset="-120"/>
              </a:rPr>
              <a:t>BST for Normal Patients</a:t>
            </a:r>
            <a:endParaRPr lang="en-US" sz="1300" dirty="0"/>
          </a:p>
        </p:txBody>
      </p:sp>
      <p:sp>
        <p:nvSpPr>
          <p:cNvPr id="11" name="Text 9"/>
          <p:cNvSpPr/>
          <p:nvPr/>
        </p:nvSpPr>
        <p:spPr>
          <a:xfrm>
            <a:off x="777240" y="1316736"/>
            <a:ext cx="3566160" cy="658368"/>
          </a:xfrm>
          <a:prstGeom prst="rect">
            <a:avLst/>
          </a:prstGeom>
          <a:noFill/>
          <a:ln/>
        </p:spPr>
        <p:txBody>
          <a:bodyPr wrap="square" lIns="0" tIns="0" rIns="0" bIns="0" rtlCol="0" anchor="ctr"/>
          <a:lstStyle/>
          <a:p>
            <a:pPr indent="0" marL="0">
              <a:buNone/>
            </a:pPr>
            <a:r>
              <a:rPr lang="en-US" sz="1200" dirty="0">
                <a:solidFill>
                  <a:srgbClr val="444444"/>
                </a:solidFill>
                <a:latin typeface="Arial" pitchFamily="34" charset="0"/>
                <a:ea typeface="Arial" pitchFamily="34" charset="-122"/>
                <a:cs typeface="Arial" pitchFamily="34" charset="-120"/>
              </a:rPr>
              <a:t>Insert, delete, search, traversals — keyed by patient ID</a:t>
            </a:r>
            <a:endParaRPr lang="en-US" sz="1200" dirty="0"/>
          </a:p>
        </p:txBody>
      </p:sp>
      <p:sp>
        <p:nvSpPr>
          <p:cNvPr id="12" name="Shape 10"/>
          <p:cNvSpPr/>
          <p:nvPr/>
        </p:nvSpPr>
        <p:spPr>
          <a:xfrm>
            <a:off x="4709160" y="841248"/>
            <a:ext cx="4251960" cy="1261872"/>
          </a:xfrm>
          <a:prstGeom prst="rect">
            <a:avLst/>
          </a:prstGeom>
          <a:solidFill>
            <a:srgbClr val="FFFFFF"/>
          </a:solidFill>
          <a:ln w="12700">
            <a:solidFill>
              <a:srgbClr val="000000"/>
            </a:solidFill>
            <a:prstDash val="solid"/>
          </a:ln>
        </p:spPr>
      </p:sp>
      <p:sp>
        <p:nvSpPr>
          <p:cNvPr id="13" name="Shape 11"/>
          <p:cNvSpPr/>
          <p:nvPr/>
        </p:nvSpPr>
        <p:spPr>
          <a:xfrm>
            <a:off x="4709160" y="841248"/>
            <a:ext cx="457200" cy="1261872"/>
          </a:xfrm>
          <a:prstGeom prst="rect">
            <a:avLst/>
          </a:prstGeom>
          <a:solidFill>
            <a:srgbClr val="8B0000"/>
          </a:solidFill>
          <a:ln w="12700">
            <a:solidFill>
              <a:srgbClr val="8B0000"/>
            </a:solidFill>
            <a:prstDash val="solid"/>
          </a:ln>
        </p:spPr>
      </p:sp>
      <p:sp>
        <p:nvSpPr>
          <p:cNvPr id="14" name="Text 12"/>
          <p:cNvSpPr/>
          <p:nvPr/>
        </p:nvSpPr>
        <p:spPr>
          <a:xfrm>
            <a:off x="4709160" y="841248"/>
            <a:ext cx="457200" cy="126187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15" name="Text 13"/>
          <p:cNvSpPr/>
          <p:nvPr/>
        </p:nvSpPr>
        <p:spPr>
          <a:xfrm>
            <a:off x="5257800" y="932688"/>
            <a:ext cx="3566160" cy="365760"/>
          </a:xfrm>
          <a:prstGeom prst="rect">
            <a:avLst/>
          </a:prstGeom>
          <a:noFill/>
          <a:ln/>
        </p:spPr>
        <p:txBody>
          <a:bodyPr wrap="square" lIns="0" tIns="0" rIns="0" bIns="0" rtlCol="0" anchor="ctr"/>
          <a:lstStyle/>
          <a:p>
            <a:pPr indent="0" marL="0">
              <a:buNone/>
            </a:pPr>
            <a:r>
              <a:rPr lang="en-US" sz="1300" b="1" dirty="0">
                <a:solidFill>
                  <a:srgbClr val="1A365D"/>
                </a:solidFill>
                <a:latin typeface="Arial" pitchFamily="34" charset="0"/>
                <a:ea typeface="Arial" pitchFamily="34" charset="-122"/>
                <a:cs typeface="Arial" pitchFamily="34" charset="-120"/>
              </a:rPr>
              <a:t>AVL for Emergency Patients</a:t>
            </a:r>
            <a:endParaRPr lang="en-US" sz="1300" dirty="0"/>
          </a:p>
        </p:txBody>
      </p:sp>
      <p:sp>
        <p:nvSpPr>
          <p:cNvPr id="16" name="Text 14"/>
          <p:cNvSpPr/>
          <p:nvPr/>
        </p:nvSpPr>
        <p:spPr>
          <a:xfrm>
            <a:off x="5257800" y="1316736"/>
            <a:ext cx="3566160" cy="658368"/>
          </a:xfrm>
          <a:prstGeom prst="rect">
            <a:avLst/>
          </a:prstGeom>
          <a:noFill/>
          <a:ln/>
        </p:spPr>
        <p:txBody>
          <a:bodyPr wrap="square" lIns="0" tIns="0" rIns="0" bIns="0" rtlCol="0" anchor="ctr"/>
          <a:lstStyle/>
          <a:p>
            <a:pPr indent="0" marL="0">
              <a:buNone/>
            </a:pPr>
            <a:r>
              <a:rPr lang="en-US" sz="1200" dirty="0">
                <a:solidFill>
                  <a:srgbClr val="444444"/>
                </a:solidFill>
                <a:latin typeface="Arial" pitchFamily="34" charset="0"/>
                <a:ea typeface="Arial" pitchFamily="34" charset="-122"/>
                <a:cs typeface="Arial" pitchFamily="34" charset="-120"/>
              </a:rPr>
              <a:t>Keyed by (priority, ID) — inorder = triage order</a:t>
            </a:r>
            <a:endParaRPr lang="en-US" sz="1200" dirty="0"/>
          </a:p>
        </p:txBody>
      </p:sp>
      <p:sp>
        <p:nvSpPr>
          <p:cNvPr id="17" name="Shape 15"/>
          <p:cNvSpPr/>
          <p:nvPr/>
        </p:nvSpPr>
        <p:spPr>
          <a:xfrm>
            <a:off x="228600" y="2240280"/>
            <a:ext cx="4251960" cy="1261872"/>
          </a:xfrm>
          <a:prstGeom prst="rect">
            <a:avLst/>
          </a:prstGeom>
          <a:solidFill>
            <a:srgbClr val="FFFFFF"/>
          </a:solidFill>
          <a:ln w="12700">
            <a:solidFill>
              <a:srgbClr val="000000"/>
            </a:solidFill>
            <a:prstDash val="solid"/>
          </a:ln>
        </p:spPr>
      </p:sp>
      <p:sp>
        <p:nvSpPr>
          <p:cNvPr id="18" name="Shape 16"/>
          <p:cNvSpPr/>
          <p:nvPr/>
        </p:nvSpPr>
        <p:spPr>
          <a:xfrm>
            <a:off x="228600" y="2240280"/>
            <a:ext cx="457200" cy="1261872"/>
          </a:xfrm>
          <a:prstGeom prst="rect">
            <a:avLst/>
          </a:prstGeom>
          <a:solidFill>
            <a:srgbClr val="1A365D"/>
          </a:solidFill>
          <a:ln w="12700">
            <a:solidFill>
              <a:srgbClr val="1A365D"/>
            </a:solidFill>
            <a:prstDash val="solid"/>
          </a:ln>
        </p:spPr>
      </p:sp>
      <p:sp>
        <p:nvSpPr>
          <p:cNvPr id="19" name="Text 17"/>
          <p:cNvSpPr/>
          <p:nvPr/>
        </p:nvSpPr>
        <p:spPr>
          <a:xfrm>
            <a:off x="228600" y="2240280"/>
            <a:ext cx="457200" cy="126187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20" name="Text 18"/>
          <p:cNvSpPr/>
          <p:nvPr/>
        </p:nvSpPr>
        <p:spPr>
          <a:xfrm>
            <a:off x="777240" y="2331720"/>
            <a:ext cx="3566160" cy="365760"/>
          </a:xfrm>
          <a:prstGeom prst="rect">
            <a:avLst/>
          </a:prstGeom>
          <a:noFill/>
          <a:ln/>
        </p:spPr>
        <p:txBody>
          <a:bodyPr wrap="square" lIns="0" tIns="0" rIns="0" bIns="0" rtlCol="0" anchor="ctr"/>
          <a:lstStyle/>
          <a:p>
            <a:pPr indent="0" marL="0">
              <a:buNone/>
            </a:pPr>
            <a:r>
              <a:rPr lang="en-US" sz="1300" b="1" dirty="0">
                <a:solidFill>
                  <a:srgbClr val="1A365D"/>
                </a:solidFill>
                <a:latin typeface="Arial" pitchFamily="34" charset="0"/>
                <a:ea typeface="Arial" pitchFamily="34" charset="-122"/>
                <a:cs typeface="Arial" pitchFamily="34" charset="-120"/>
              </a:rPr>
              <a:t>All 4 AVL Rotations</a:t>
            </a:r>
            <a:endParaRPr lang="en-US" sz="1300" dirty="0"/>
          </a:p>
        </p:txBody>
      </p:sp>
      <p:sp>
        <p:nvSpPr>
          <p:cNvPr id="21" name="Text 19"/>
          <p:cNvSpPr/>
          <p:nvPr/>
        </p:nvSpPr>
        <p:spPr>
          <a:xfrm>
            <a:off x="777240" y="2715768"/>
            <a:ext cx="3566160" cy="658368"/>
          </a:xfrm>
          <a:prstGeom prst="rect">
            <a:avLst/>
          </a:prstGeom>
          <a:noFill/>
          <a:ln/>
        </p:spPr>
        <p:txBody>
          <a:bodyPr wrap="square" lIns="0" tIns="0" rIns="0" bIns="0" rtlCol="0" anchor="ctr"/>
          <a:lstStyle/>
          <a:p>
            <a:pPr indent="0" marL="0">
              <a:buNone/>
            </a:pPr>
            <a:r>
              <a:rPr lang="en-US" sz="1200" dirty="0">
                <a:solidFill>
                  <a:srgbClr val="444444"/>
                </a:solidFill>
                <a:latin typeface="Arial" pitchFamily="34" charset="0"/>
                <a:ea typeface="Arial" pitchFamily="34" charset="-122"/>
                <a:cs typeface="Arial" pitchFamily="34" charset="-120"/>
              </a:rPr>
              <a:t>LL, RR, LR, RL — correct balancing after every change</a:t>
            </a:r>
            <a:endParaRPr lang="en-US" sz="1200" dirty="0"/>
          </a:p>
        </p:txBody>
      </p:sp>
      <p:sp>
        <p:nvSpPr>
          <p:cNvPr id="22" name="Shape 20"/>
          <p:cNvSpPr/>
          <p:nvPr/>
        </p:nvSpPr>
        <p:spPr>
          <a:xfrm>
            <a:off x="4709160" y="2240280"/>
            <a:ext cx="4251960" cy="1261872"/>
          </a:xfrm>
          <a:prstGeom prst="rect">
            <a:avLst/>
          </a:prstGeom>
          <a:solidFill>
            <a:srgbClr val="FFFFFF"/>
          </a:solidFill>
          <a:ln w="12700">
            <a:solidFill>
              <a:srgbClr val="000000"/>
            </a:solidFill>
            <a:prstDash val="solid"/>
          </a:ln>
        </p:spPr>
      </p:sp>
      <p:sp>
        <p:nvSpPr>
          <p:cNvPr id="23" name="Shape 21"/>
          <p:cNvSpPr/>
          <p:nvPr/>
        </p:nvSpPr>
        <p:spPr>
          <a:xfrm>
            <a:off x="4709160" y="2240280"/>
            <a:ext cx="457200" cy="1261872"/>
          </a:xfrm>
          <a:prstGeom prst="rect">
            <a:avLst/>
          </a:prstGeom>
          <a:solidFill>
            <a:srgbClr val="1A5C2E"/>
          </a:solidFill>
          <a:ln w="12700">
            <a:solidFill>
              <a:srgbClr val="1A5C2E"/>
            </a:solidFill>
            <a:prstDash val="solid"/>
          </a:ln>
        </p:spPr>
      </p:sp>
      <p:sp>
        <p:nvSpPr>
          <p:cNvPr id="24" name="Text 22"/>
          <p:cNvSpPr/>
          <p:nvPr/>
        </p:nvSpPr>
        <p:spPr>
          <a:xfrm>
            <a:off x="4709160" y="2240280"/>
            <a:ext cx="457200" cy="126187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04</a:t>
            </a:r>
            <a:endParaRPr lang="en-US" sz="1600" dirty="0"/>
          </a:p>
        </p:txBody>
      </p:sp>
      <p:sp>
        <p:nvSpPr>
          <p:cNvPr id="25" name="Text 23"/>
          <p:cNvSpPr/>
          <p:nvPr/>
        </p:nvSpPr>
        <p:spPr>
          <a:xfrm>
            <a:off x="5257800" y="2331720"/>
            <a:ext cx="3566160" cy="365760"/>
          </a:xfrm>
          <a:prstGeom prst="rect">
            <a:avLst/>
          </a:prstGeom>
          <a:noFill/>
          <a:ln/>
        </p:spPr>
        <p:txBody>
          <a:bodyPr wrap="square" lIns="0" tIns="0" rIns="0" bIns="0" rtlCol="0" anchor="ctr"/>
          <a:lstStyle/>
          <a:p>
            <a:pPr indent="0" marL="0">
              <a:buNone/>
            </a:pPr>
            <a:r>
              <a:rPr lang="en-US" sz="1300" b="1" dirty="0">
                <a:solidFill>
                  <a:srgbClr val="1A365D"/>
                </a:solidFill>
                <a:latin typeface="Arial" pitchFamily="34" charset="0"/>
                <a:ea typeface="Arial" pitchFamily="34" charset="-122"/>
                <a:cs typeface="Arial" pitchFamily="34" charset="-120"/>
              </a:rPr>
              <a:t>Fix Deletion Bug</a:t>
            </a:r>
            <a:endParaRPr lang="en-US" sz="1300" dirty="0"/>
          </a:p>
        </p:txBody>
      </p:sp>
      <p:sp>
        <p:nvSpPr>
          <p:cNvPr id="26" name="Text 24"/>
          <p:cNvSpPr/>
          <p:nvPr/>
        </p:nvSpPr>
        <p:spPr>
          <a:xfrm>
            <a:off x="5257800" y="2715768"/>
            <a:ext cx="3566160" cy="658368"/>
          </a:xfrm>
          <a:prstGeom prst="rect">
            <a:avLst/>
          </a:prstGeom>
          <a:noFill/>
          <a:ln/>
        </p:spPr>
        <p:txBody>
          <a:bodyPr wrap="square" lIns="0" tIns="0" rIns="0" bIns="0" rtlCol="0" anchor="ctr"/>
          <a:lstStyle/>
          <a:p>
            <a:pPr indent="0" marL="0">
              <a:buNone/>
            </a:pPr>
            <a:r>
              <a:rPr lang="en-US" sz="1200" dirty="0">
                <a:solidFill>
                  <a:srgbClr val="444444"/>
                </a:solidFill>
                <a:latin typeface="Arial" pitchFamily="34" charset="0"/>
                <a:ea typeface="Arial" pitchFamily="34" charset="-122"/>
                <a:cs typeface="Arial" pitchFamily="34" charset="-120"/>
              </a:rPr>
              <a:t>Copy only data field — not left/right pointers</a:t>
            </a:r>
            <a:endParaRPr lang="en-US" sz="1200" dirty="0"/>
          </a:p>
        </p:txBody>
      </p:sp>
      <p:sp>
        <p:nvSpPr>
          <p:cNvPr id="27" name="Shape 25"/>
          <p:cNvSpPr/>
          <p:nvPr/>
        </p:nvSpPr>
        <p:spPr>
          <a:xfrm>
            <a:off x="228600" y="3639312"/>
            <a:ext cx="4251960" cy="1261872"/>
          </a:xfrm>
          <a:prstGeom prst="rect">
            <a:avLst/>
          </a:prstGeom>
          <a:solidFill>
            <a:srgbClr val="FFFFFF"/>
          </a:solidFill>
          <a:ln w="12700">
            <a:solidFill>
              <a:srgbClr val="000000"/>
            </a:solidFill>
            <a:prstDash val="solid"/>
          </a:ln>
        </p:spPr>
      </p:sp>
      <p:sp>
        <p:nvSpPr>
          <p:cNvPr id="28" name="Shape 26"/>
          <p:cNvSpPr/>
          <p:nvPr/>
        </p:nvSpPr>
        <p:spPr>
          <a:xfrm>
            <a:off x="228600" y="3639312"/>
            <a:ext cx="457200" cy="1261872"/>
          </a:xfrm>
          <a:prstGeom prst="rect">
            <a:avLst/>
          </a:prstGeom>
          <a:solidFill>
            <a:srgbClr val="1A365D"/>
          </a:solidFill>
          <a:ln w="12700">
            <a:solidFill>
              <a:srgbClr val="1A365D"/>
            </a:solidFill>
            <a:prstDash val="solid"/>
          </a:ln>
        </p:spPr>
      </p:sp>
      <p:sp>
        <p:nvSpPr>
          <p:cNvPr id="29" name="Text 27"/>
          <p:cNvSpPr/>
          <p:nvPr/>
        </p:nvSpPr>
        <p:spPr>
          <a:xfrm>
            <a:off x="228600" y="3639312"/>
            <a:ext cx="457200" cy="126187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05</a:t>
            </a:r>
            <a:endParaRPr lang="en-US" sz="1600" dirty="0"/>
          </a:p>
        </p:txBody>
      </p:sp>
      <p:sp>
        <p:nvSpPr>
          <p:cNvPr id="30" name="Text 28"/>
          <p:cNvSpPr/>
          <p:nvPr/>
        </p:nvSpPr>
        <p:spPr>
          <a:xfrm>
            <a:off x="777240" y="3730752"/>
            <a:ext cx="3566160" cy="365760"/>
          </a:xfrm>
          <a:prstGeom prst="rect">
            <a:avLst/>
          </a:prstGeom>
          <a:noFill/>
          <a:ln/>
        </p:spPr>
        <p:txBody>
          <a:bodyPr wrap="square" lIns="0" tIns="0" rIns="0" bIns="0" rtlCol="0" anchor="ctr"/>
          <a:lstStyle/>
          <a:p>
            <a:pPr indent="0" marL="0">
              <a:buNone/>
            </a:pPr>
            <a:r>
              <a:rPr lang="en-US" sz="1300" b="1" dirty="0">
                <a:solidFill>
                  <a:srgbClr val="1A365D"/>
                </a:solidFill>
                <a:latin typeface="Arial" pitchFamily="34" charset="0"/>
                <a:ea typeface="Arial" pitchFamily="34" charset="-122"/>
                <a:cs typeface="Arial" pitchFamily="34" charset="-120"/>
              </a:rPr>
              <a:t>Separate Patient.cpp</a:t>
            </a:r>
            <a:endParaRPr lang="en-US" sz="1300" dirty="0"/>
          </a:p>
        </p:txBody>
      </p:sp>
      <p:sp>
        <p:nvSpPr>
          <p:cNvPr id="31" name="Text 29"/>
          <p:cNvSpPr/>
          <p:nvPr/>
        </p:nvSpPr>
        <p:spPr>
          <a:xfrm>
            <a:off x="777240" y="4114800"/>
            <a:ext cx="3566160" cy="658368"/>
          </a:xfrm>
          <a:prstGeom prst="rect">
            <a:avLst/>
          </a:prstGeom>
          <a:noFill/>
          <a:ln/>
        </p:spPr>
        <p:txBody>
          <a:bodyPr wrap="square" lIns="0" tIns="0" rIns="0" bIns="0" rtlCol="0" anchor="ctr"/>
          <a:lstStyle/>
          <a:p>
            <a:pPr indent="0" marL="0">
              <a:buNone/>
            </a:pPr>
            <a:r>
              <a:rPr lang="en-US" sz="1200" dirty="0">
                <a:solidFill>
                  <a:srgbClr val="444444"/>
                </a:solidFill>
                <a:latin typeface="Arial" pitchFamily="34" charset="0"/>
                <a:ea typeface="Arial" pitchFamily="34" charset="-122"/>
                <a:cs typeface="Arial" pitchFamily="34" charset="-120"/>
              </a:rPr>
              <a:t>display() in its own file — no linker errors</a:t>
            </a:r>
            <a:endParaRPr lang="en-US" sz="1200" dirty="0"/>
          </a:p>
        </p:txBody>
      </p:sp>
      <p:sp>
        <p:nvSpPr>
          <p:cNvPr id="32" name="Shape 30"/>
          <p:cNvSpPr/>
          <p:nvPr/>
        </p:nvSpPr>
        <p:spPr>
          <a:xfrm>
            <a:off x="4709160" y="3639312"/>
            <a:ext cx="4251960" cy="1261872"/>
          </a:xfrm>
          <a:prstGeom prst="rect">
            <a:avLst/>
          </a:prstGeom>
          <a:solidFill>
            <a:srgbClr val="FFFFFF"/>
          </a:solidFill>
          <a:ln w="12700">
            <a:solidFill>
              <a:srgbClr val="000000"/>
            </a:solidFill>
            <a:prstDash val="solid"/>
          </a:ln>
        </p:spPr>
      </p:sp>
      <p:sp>
        <p:nvSpPr>
          <p:cNvPr id="33" name="Shape 31"/>
          <p:cNvSpPr/>
          <p:nvPr/>
        </p:nvSpPr>
        <p:spPr>
          <a:xfrm>
            <a:off x="4709160" y="3639312"/>
            <a:ext cx="457200" cy="1261872"/>
          </a:xfrm>
          <a:prstGeom prst="rect">
            <a:avLst/>
          </a:prstGeom>
          <a:solidFill>
            <a:srgbClr val="1A5C2E"/>
          </a:solidFill>
          <a:ln w="12700">
            <a:solidFill>
              <a:srgbClr val="1A5C2E"/>
            </a:solidFill>
            <a:prstDash val="solid"/>
          </a:ln>
        </p:spPr>
      </p:sp>
      <p:sp>
        <p:nvSpPr>
          <p:cNvPr id="34" name="Text 32"/>
          <p:cNvSpPr/>
          <p:nvPr/>
        </p:nvSpPr>
        <p:spPr>
          <a:xfrm>
            <a:off x="4709160" y="3639312"/>
            <a:ext cx="457200" cy="126187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06</a:t>
            </a:r>
            <a:endParaRPr lang="en-US" sz="1600" dirty="0"/>
          </a:p>
        </p:txBody>
      </p:sp>
      <p:sp>
        <p:nvSpPr>
          <p:cNvPr id="35" name="Text 33"/>
          <p:cNvSpPr/>
          <p:nvPr/>
        </p:nvSpPr>
        <p:spPr>
          <a:xfrm>
            <a:off x="5257800" y="3730752"/>
            <a:ext cx="3566160" cy="365760"/>
          </a:xfrm>
          <a:prstGeom prst="rect">
            <a:avLst/>
          </a:prstGeom>
          <a:noFill/>
          <a:ln/>
        </p:spPr>
        <p:txBody>
          <a:bodyPr wrap="square" lIns="0" tIns="0" rIns="0" bIns="0" rtlCol="0" anchor="ctr"/>
          <a:lstStyle/>
          <a:p>
            <a:pPr indent="0" marL="0">
              <a:buNone/>
            </a:pPr>
            <a:r>
              <a:rPr lang="en-US" sz="1300" b="1" dirty="0">
                <a:solidFill>
                  <a:srgbClr val="1A365D"/>
                </a:solidFill>
                <a:latin typeface="Arial" pitchFamily="34" charset="0"/>
                <a:ea typeface="Arial" pitchFamily="34" charset="-122"/>
                <a:cs typeface="Arial" pitchFamily="34" charset="-120"/>
              </a:rPr>
              <a:t>Clean Menu Interface</a:t>
            </a:r>
            <a:endParaRPr lang="en-US" sz="1300" dirty="0"/>
          </a:p>
        </p:txBody>
      </p:sp>
      <p:sp>
        <p:nvSpPr>
          <p:cNvPr id="36" name="Text 34"/>
          <p:cNvSpPr/>
          <p:nvPr/>
        </p:nvSpPr>
        <p:spPr>
          <a:xfrm>
            <a:off x="5257800" y="4114800"/>
            <a:ext cx="3566160" cy="658368"/>
          </a:xfrm>
          <a:prstGeom prst="rect">
            <a:avLst/>
          </a:prstGeom>
          <a:noFill/>
          <a:ln/>
        </p:spPr>
        <p:txBody>
          <a:bodyPr wrap="square" lIns="0" tIns="0" rIns="0" bIns="0" rtlCol="0" anchor="ctr"/>
          <a:lstStyle/>
          <a:p>
            <a:pPr indent="0" marL="0">
              <a:buNone/>
            </a:pPr>
            <a:r>
              <a:rPr lang="en-US" sz="1200" dirty="0">
                <a:solidFill>
                  <a:srgbClr val="444444"/>
                </a:solidFill>
                <a:latin typeface="Arial" pitchFamily="34" charset="0"/>
                <a:ea typeface="Arial" pitchFamily="34" charset="-122"/>
                <a:cs typeface="Arial" pitchFamily="34" charset="-120"/>
              </a:rPr>
              <a:t>Auto-route patient to correct tree by priority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65D"/>
          </a:solidFill>
          <a:ln w="12700">
            <a:solidFill>
              <a:srgbClr val="1A365D"/>
            </a:solidFill>
            <a:prstDash val="solid"/>
          </a:ln>
        </p:spPr>
      </p:sp>
      <p:sp>
        <p:nvSpPr>
          <p:cNvPr id="3" name="Text 1"/>
          <p:cNvSpPr/>
          <p:nvPr/>
        </p:nvSpPr>
        <p:spPr>
          <a:xfrm>
            <a:off x="228600" y="91440"/>
            <a:ext cx="86868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Why BST for Normal  /  AVL for Emergency?</a:t>
            </a:r>
            <a:endParaRPr lang="en-US" sz="2800" dirty="0"/>
          </a:p>
        </p:txBody>
      </p:sp>
      <p:sp>
        <p:nvSpPr>
          <p:cNvPr id="4" name="Shape 2"/>
          <p:cNvSpPr/>
          <p:nvPr/>
        </p:nvSpPr>
        <p:spPr>
          <a:xfrm>
            <a:off x="0" y="685800"/>
            <a:ext cx="9144000" cy="54864"/>
          </a:xfrm>
          <a:prstGeom prst="rect">
            <a:avLst/>
          </a:prstGeom>
          <a:solidFill>
            <a:srgbClr val="000000"/>
          </a:solidFill>
          <a:ln w="12700">
            <a:solidFill>
              <a:srgbClr val="000000"/>
            </a:solidFill>
            <a:prstDash val="solid"/>
          </a:ln>
        </p:spPr>
      </p:sp>
      <p:sp>
        <p:nvSpPr>
          <p:cNvPr id="5" name="Shape 3"/>
          <p:cNvSpPr/>
          <p:nvPr/>
        </p:nvSpPr>
        <p:spPr>
          <a:xfrm>
            <a:off x="0" y="4937760"/>
            <a:ext cx="9144000" cy="210312"/>
          </a:xfrm>
          <a:prstGeom prst="rect">
            <a:avLst/>
          </a:prstGeom>
          <a:solidFill>
            <a:srgbClr val="1A365D"/>
          </a:solidFill>
          <a:ln w="12700">
            <a:solidFill>
              <a:srgbClr val="1A365D"/>
            </a:solidFill>
            <a:prstDash val="solid"/>
          </a:ln>
        </p:spPr>
      </p:sp>
      <p:sp>
        <p:nvSpPr>
          <p:cNvPr id="6" name="Text 4"/>
          <p:cNvSpPr/>
          <p:nvPr/>
        </p:nvSpPr>
        <p:spPr>
          <a:xfrm>
            <a:off x="182880" y="4956048"/>
            <a:ext cx="8778240" cy="173736"/>
          </a:xfrm>
          <a:prstGeom prst="rect">
            <a:avLst/>
          </a:prstGeom>
          <a:noFill/>
          <a:ln/>
        </p:spPr>
        <p:txBody>
          <a:bodyPr wrap="square" lIns="0" tIns="0" rIns="0" bIns="0" rtlCol="0" anchor="ctr"/>
          <a:lstStyle/>
          <a:p>
            <a:pPr indent="0" marL="0">
              <a:buNone/>
            </a:pPr>
            <a:r>
              <a:rPr lang="en-US" sz="900" dirty="0">
                <a:solidFill>
                  <a:srgbClr val="CCDDEE"/>
                </a:solidFill>
                <a:latin typeface="Arial" pitchFamily="34" charset="0"/>
                <a:ea typeface="Arial" pitchFamily="34" charset="-122"/>
                <a:cs typeface="Arial" pitchFamily="34" charset="-120"/>
              </a:rPr>
              <a:t>UET Lahore  |  CMPE 212  |  Hospital Patient Management System  |  Session 2024-2025</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28600" y="804672"/>
          <a:ext cx="8686800" cy="914400"/>
        </p:xfrm>
        <a:graphic>
          <a:graphicData uri="http://schemas.openxmlformats.org/drawingml/2006/table">
            <a:tbl>
              <a:tblPr/>
              <a:tblGrid>
                <a:gridCol w="2377440"/>
                <a:gridCol w="2926080"/>
                <a:gridCol w="2926080"/>
              </a:tblGrid>
              <a:tr h="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Aspect</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888888"/>
                      </a:solidFill>
                      <a:prstDash val="solid"/>
                      <a:round/>
                      <a:headEnd type="none" w="med" len="med"/>
                      <a:tailEnd type="none" w="med" len="med"/>
                    </a:lnT>
                    <a:lnB w="0" cap="flat" cmpd="sng" algn="ctr">
                      <a:noFill/>
                    </a:lnB>
                    <a:solidFill>
                      <a:srgbClr val="1A365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BST  (Normal)</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888888"/>
                      </a:solidFill>
                      <a:prstDash val="solid"/>
                      <a:round/>
                      <a:headEnd type="none" w="med" len="med"/>
                      <a:tailEnd type="none" w="med" len="med"/>
                    </a:lnT>
                    <a:lnB w="0" cap="flat" cmpd="sng" algn="ctr">
                      <a:noFill/>
                    </a:lnB>
                    <a:solidFill>
                      <a:srgbClr val="1A365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AVL  (Emergency)</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888888"/>
                      </a:solidFill>
                      <a:prstDash val="solid"/>
                      <a:round/>
                      <a:headEnd type="none" w="med" len="med"/>
                      <a:tailEnd type="none" w="med" len="med"/>
                    </a:lnT>
                    <a:lnB w="0" cap="flat" cmpd="sng" algn="ctr">
                      <a:noFill/>
                    </a:lnB>
                    <a:solidFill>
                      <a:srgbClr val="1A5C2E"/>
                    </a:solidFill>
                  </a:tcPr>
                </a:tc>
              </a:tr>
              <a:tr h="0">
                <a:tc>
                  <a:txBody>
                    <a:bodyPr/>
                    <a:lstStyle/>
                    <a:p>
                      <a:pPr algn="ctr" indent="0" marL="0">
                        <a:buNone/>
                      </a:pPr>
                      <a:r>
                        <a:rPr lang="en-US" sz="1200" dirty="0">
                          <a:solidFill>
                            <a:srgbClr val="1A365D"/>
                          </a:solidFill>
                          <a:latin typeface="Arial" pitchFamily="34" charset="0"/>
                          <a:ea typeface="Arial" pitchFamily="34" charset="-122"/>
                          <a:cs typeface="Arial" pitchFamily="34" charset="-120"/>
                        </a:rPr>
                        <a:t>Patient type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NORMAL only</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1A5C2E"/>
                          </a:solidFill>
                          <a:latin typeface="Arial" pitchFamily="34" charset="0"/>
                          <a:ea typeface="Arial" pitchFamily="34" charset="-122"/>
                          <a:cs typeface="Arial" pitchFamily="34" charset="-120"/>
                        </a:rPr>
                        <a:t>EMERGENCY + URGENT only</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8F5E9"/>
                    </a:solidFill>
                  </a:tcPr>
                </a:tc>
              </a:tr>
              <a:tr h="0">
                <a:tc>
                  <a:txBody>
                    <a:bodyPr/>
                    <a:lstStyle/>
                    <a:p>
                      <a:pPr algn="ctr" indent="0" marL="0">
                        <a:buNone/>
                      </a:pPr>
                      <a:r>
                        <a:rPr lang="en-US" sz="1200" dirty="0">
                          <a:solidFill>
                            <a:srgbClr val="1A365D"/>
                          </a:solidFill>
                          <a:latin typeface="Arial" pitchFamily="34" charset="0"/>
                          <a:ea typeface="Arial" pitchFamily="34" charset="-122"/>
                          <a:cs typeface="Arial" pitchFamily="34" charset="-120"/>
                        </a:rPr>
                        <a:t>Tree key</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Patient ID</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200" dirty="0">
                          <a:solidFill>
                            <a:srgbClr val="1A5C2E"/>
                          </a:solidFill>
                          <a:latin typeface="Arial" pitchFamily="34" charset="0"/>
                          <a:ea typeface="Arial" pitchFamily="34" charset="-122"/>
                          <a:cs typeface="Arial" pitchFamily="34" charset="-120"/>
                        </a:rPr>
                        <a:t>(Priority, ID) composite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0FAF0"/>
                    </a:solidFill>
                  </a:tcPr>
                </a:tc>
              </a:tr>
              <a:tr h="0">
                <a:tc>
                  <a:txBody>
                    <a:bodyPr/>
                    <a:lstStyle/>
                    <a:p>
                      <a:pPr algn="ctr" indent="0" marL="0">
                        <a:buNone/>
                      </a:pPr>
                      <a:r>
                        <a:rPr lang="en-US" sz="1200" dirty="0">
                          <a:solidFill>
                            <a:srgbClr val="1A365D"/>
                          </a:solidFill>
                          <a:latin typeface="Arial" pitchFamily="34" charset="0"/>
                          <a:ea typeface="Arial" pitchFamily="34" charset="-122"/>
                          <a:cs typeface="Arial" pitchFamily="34" charset="-120"/>
                        </a:rPr>
                        <a:t>Inorder output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Sorted by ID</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1A5C2E"/>
                          </a:solidFill>
                          <a:latin typeface="Arial" pitchFamily="34" charset="0"/>
                          <a:ea typeface="Arial" pitchFamily="34" charset="-122"/>
                          <a:cs typeface="Arial" pitchFamily="34" charset="-120"/>
                        </a:rPr>
                        <a:t>Sorted by urgency — Emergency first</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8F5E9"/>
                    </a:solidFill>
                  </a:tcPr>
                </a:tc>
              </a:tr>
              <a:tr h="0">
                <a:tc>
                  <a:txBody>
                    <a:bodyPr/>
                    <a:lstStyle/>
                    <a:p>
                      <a:pPr algn="ctr" indent="0" marL="0">
                        <a:buNone/>
                      </a:pPr>
                      <a:r>
                        <a:rPr lang="en-US" sz="1200" dirty="0">
                          <a:solidFill>
                            <a:srgbClr val="1A365D"/>
                          </a:solidFill>
                          <a:latin typeface="Arial" pitchFamily="34" charset="0"/>
                          <a:ea typeface="Arial" pitchFamily="34" charset="-122"/>
                          <a:cs typeface="Arial" pitchFamily="34" charset="-120"/>
                        </a:rPr>
                        <a:t>Balancing</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None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200" dirty="0">
                          <a:solidFill>
                            <a:srgbClr val="1A5C2E"/>
                          </a:solidFill>
                          <a:latin typeface="Arial" pitchFamily="34" charset="0"/>
                          <a:ea typeface="Arial" pitchFamily="34" charset="-122"/>
                          <a:cs typeface="Arial" pitchFamily="34" charset="-120"/>
                        </a:rPr>
                        <a:t>LL / RR / LR / RL rotations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0FAF0"/>
                    </a:solidFill>
                  </a:tcPr>
                </a:tc>
              </a:tr>
              <a:tr h="0">
                <a:tc>
                  <a:txBody>
                    <a:bodyPr/>
                    <a:lstStyle/>
                    <a:p>
                      <a:pPr algn="ctr" indent="0" marL="0">
                        <a:buNone/>
                      </a:pPr>
                      <a:r>
                        <a:rPr lang="en-US" sz="1200" dirty="0">
                          <a:solidFill>
                            <a:srgbClr val="1A365D"/>
                          </a:solidFill>
                          <a:latin typeface="Arial" pitchFamily="34" charset="0"/>
                          <a:ea typeface="Arial" pitchFamily="34" charset="-122"/>
                          <a:cs typeface="Arial" pitchFamily="34" charset="-120"/>
                        </a:rPr>
                        <a:t>Insert / Search</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O(log n) average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1A5C2E"/>
                          </a:solidFill>
                          <a:latin typeface="Arial" pitchFamily="34" charset="0"/>
                          <a:ea typeface="Arial" pitchFamily="34" charset="-122"/>
                          <a:cs typeface="Arial" pitchFamily="34" charset="-120"/>
                        </a:rPr>
                        <a:t>O(log n) guaranteed</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8F5E9"/>
                    </a:solidFill>
                  </a:tcPr>
                </a:tc>
              </a:tr>
              <a:tr h="0">
                <a:tc>
                  <a:txBody>
                    <a:bodyPr/>
                    <a:lstStyle/>
                    <a:p>
                      <a:pPr algn="ctr" indent="0" marL="0">
                        <a:buNone/>
                      </a:pPr>
                      <a:r>
                        <a:rPr lang="en-US" sz="1200" dirty="0">
                          <a:solidFill>
                            <a:srgbClr val="1A365D"/>
                          </a:solidFill>
                          <a:latin typeface="Arial" pitchFamily="34" charset="0"/>
                          <a:ea typeface="Arial" pitchFamily="34" charset="-122"/>
                          <a:cs typeface="Arial" pitchFamily="34" charset="-120"/>
                        </a:rPr>
                        <a:t>Worst case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200" dirty="0">
                          <a:solidFill>
                            <a:srgbClr val="8B0000"/>
                          </a:solidFill>
                          <a:latin typeface="Arial" pitchFamily="34" charset="0"/>
                          <a:ea typeface="Arial" pitchFamily="34" charset="-122"/>
                          <a:cs typeface="Arial" pitchFamily="34" charset="-120"/>
                        </a:rPr>
                        <a:t>O(n) on sorted IDs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200" dirty="0">
                          <a:solidFill>
                            <a:srgbClr val="1A5C2E"/>
                          </a:solidFill>
                          <a:latin typeface="Arial" pitchFamily="34" charset="0"/>
                          <a:ea typeface="Arial" pitchFamily="34" charset="-122"/>
                          <a:cs typeface="Arial" pitchFamily="34" charset="-120"/>
                        </a:rPr>
                        <a:t>O(log n) always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0FAF0"/>
                    </a:solidFill>
                  </a:tcPr>
                </a:tc>
              </a:tr>
              <a:tr h="0">
                <a:tc>
                  <a:txBody>
                    <a:bodyPr/>
                    <a:lstStyle/>
                    <a:p>
                      <a:pPr algn="ctr" indent="0" marL="0">
                        <a:buNone/>
                      </a:pPr>
                      <a:r>
                        <a:rPr lang="en-US" sz="1200" dirty="0">
                          <a:solidFill>
                            <a:srgbClr val="1A365D"/>
                          </a:solidFill>
                          <a:latin typeface="Arial" pitchFamily="34" charset="0"/>
                          <a:ea typeface="Arial" pitchFamily="34" charset="-122"/>
                          <a:cs typeface="Arial" pitchFamily="34" charset="-120"/>
                        </a:rPr>
                        <a:t>Height (6 nodes)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Up to 6 (skewed)</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1A5C2E"/>
                          </a:solidFill>
                          <a:latin typeface="Arial" pitchFamily="34" charset="0"/>
                          <a:ea typeface="Arial" pitchFamily="34" charset="-122"/>
                          <a:cs typeface="Arial" pitchFamily="34" charset="-120"/>
                        </a:rPr>
                        <a:t>3 (balanced)</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8F5E9"/>
                    </a:solidFill>
                  </a:tcPr>
                </a:tc>
              </a:tr>
            </a:tbl>
          </a:graphicData>
        </a:graphic>
      </p:graphicFrame>
      <p:sp>
        <p:nvSpPr>
          <p:cNvPr id="8" name="Shape 5"/>
          <p:cNvSpPr/>
          <p:nvPr/>
        </p:nvSpPr>
        <p:spPr>
          <a:xfrm>
            <a:off x="228600" y="4407408"/>
            <a:ext cx="8686800" cy="411480"/>
          </a:xfrm>
          <a:prstGeom prst="rect">
            <a:avLst/>
          </a:prstGeom>
          <a:solidFill>
            <a:srgbClr val="EEEEEE"/>
          </a:solidFill>
          <a:ln w="12700">
            <a:solidFill>
              <a:srgbClr val="1A365D"/>
            </a:solidFill>
            <a:prstDash val="solid"/>
          </a:ln>
        </p:spPr>
      </p:sp>
      <p:sp>
        <p:nvSpPr>
          <p:cNvPr id="9" name="Text 6"/>
          <p:cNvSpPr/>
          <p:nvPr/>
        </p:nvSpPr>
        <p:spPr>
          <a:xfrm>
            <a:off x="320040" y="4425696"/>
            <a:ext cx="8503920" cy="356616"/>
          </a:xfrm>
          <a:prstGeom prst="rect">
            <a:avLst/>
          </a:prstGeom>
          <a:noFill/>
          <a:ln/>
        </p:spPr>
        <p:txBody>
          <a:bodyPr wrap="square" rtlCol="0" anchor="ctr"/>
          <a:lstStyle/>
          <a:p>
            <a:pPr indent="0" marL="0">
              <a:buNone/>
            </a:pPr>
            <a:r>
              <a:rPr lang="en-US" sz="1300" b="1" dirty="0">
                <a:solidFill>
                  <a:srgbClr val="1A365D"/>
                </a:solidFill>
                <a:latin typeface="Arial" pitchFamily="34" charset="0"/>
                <a:ea typeface="Arial" pitchFamily="34" charset="-122"/>
                <a:cs typeface="Arial" pitchFamily="34" charset="-120"/>
              </a:rPr>
              <a:t>Key point: AVL guarantees O(log n) and its inorder traversal directly gives triage order — no extra sorting needed.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65D"/>
          </a:solidFill>
          <a:ln w="12700">
            <a:solidFill>
              <a:srgbClr val="1A365D"/>
            </a:solidFill>
            <a:prstDash val="solid"/>
          </a:ln>
        </p:spPr>
      </p:sp>
      <p:sp>
        <p:nvSpPr>
          <p:cNvPr id="3" name="Text 1"/>
          <p:cNvSpPr/>
          <p:nvPr/>
        </p:nvSpPr>
        <p:spPr>
          <a:xfrm>
            <a:off x="228600" y="91440"/>
            <a:ext cx="86868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System Architecture</a:t>
            </a:r>
            <a:endParaRPr lang="en-US" sz="2800" dirty="0"/>
          </a:p>
        </p:txBody>
      </p:sp>
      <p:sp>
        <p:nvSpPr>
          <p:cNvPr id="4" name="Shape 2"/>
          <p:cNvSpPr/>
          <p:nvPr/>
        </p:nvSpPr>
        <p:spPr>
          <a:xfrm>
            <a:off x="0" y="685800"/>
            <a:ext cx="9144000" cy="54864"/>
          </a:xfrm>
          <a:prstGeom prst="rect">
            <a:avLst/>
          </a:prstGeom>
          <a:solidFill>
            <a:srgbClr val="000000"/>
          </a:solidFill>
          <a:ln w="12700">
            <a:solidFill>
              <a:srgbClr val="000000"/>
            </a:solidFill>
            <a:prstDash val="solid"/>
          </a:ln>
        </p:spPr>
      </p:sp>
      <p:sp>
        <p:nvSpPr>
          <p:cNvPr id="5" name="Shape 3"/>
          <p:cNvSpPr/>
          <p:nvPr/>
        </p:nvSpPr>
        <p:spPr>
          <a:xfrm>
            <a:off x="0" y="4937760"/>
            <a:ext cx="9144000" cy="210312"/>
          </a:xfrm>
          <a:prstGeom prst="rect">
            <a:avLst/>
          </a:prstGeom>
          <a:solidFill>
            <a:srgbClr val="1A365D"/>
          </a:solidFill>
          <a:ln w="12700">
            <a:solidFill>
              <a:srgbClr val="1A365D"/>
            </a:solidFill>
            <a:prstDash val="solid"/>
          </a:ln>
        </p:spPr>
      </p:sp>
      <p:sp>
        <p:nvSpPr>
          <p:cNvPr id="6" name="Text 4"/>
          <p:cNvSpPr/>
          <p:nvPr/>
        </p:nvSpPr>
        <p:spPr>
          <a:xfrm>
            <a:off x="182880" y="4956048"/>
            <a:ext cx="8778240" cy="173736"/>
          </a:xfrm>
          <a:prstGeom prst="rect">
            <a:avLst/>
          </a:prstGeom>
          <a:noFill/>
          <a:ln/>
        </p:spPr>
        <p:txBody>
          <a:bodyPr wrap="square" lIns="0" tIns="0" rIns="0" bIns="0" rtlCol="0" anchor="ctr"/>
          <a:lstStyle/>
          <a:p>
            <a:pPr indent="0" marL="0">
              <a:buNone/>
            </a:pPr>
            <a:r>
              <a:rPr lang="en-US" sz="900" dirty="0">
                <a:solidFill>
                  <a:srgbClr val="CCDDEE"/>
                </a:solidFill>
                <a:latin typeface="Arial" pitchFamily="34" charset="0"/>
                <a:ea typeface="Arial" pitchFamily="34" charset="-122"/>
                <a:cs typeface="Arial" pitchFamily="34" charset="-120"/>
              </a:rPr>
              <a:t>UET Lahore  |  CMPE 212  |  Hospital Patient Management System  |  Session 2024-2025</a:t>
            </a:r>
            <a:endParaRPr lang="en-US" sz="900" dirty="0"/>
          </a:p>
        </p:txBody>
      </p:sp>
      <p:sp>
        <p:nvSpPr>
          <p:cNvPr id="7" name="Shape 5"/>
          <p:cNvSpPr/>
          <p:nvPr/>
        </p:nvSpPr>
        <p:spPr>
          <a:xfrm>
            <a:off x="3474720" y="822960"/>
            <a:ext cx="2194560" cy="594360"/>
          </a:xfrm>
          <a:prstGeom prst="rect">
            <a:avLst/>
          </a:prstGeom>
          <a:solidFill>
            <a:srgbClr val="1A365D"/>
          </a:solidFill>
          <a:ln w="12700">
            <a:solidFill>
              <a:srgbClr val="000000"/>
            </a:solidFill>
            <a:prstDash val="solid"/>
          </a:ln>
        </p:spPr>
      </p:sp>
      <p:sp>
        <p:nvSpPr>
          <p:cNvPr id="8" name="Text 6"/>
          <p:cNvSpPr/>
          <p:nvPr/>
        </p:nvSpPr>
        <p:spPr>
          <a:xfrm>
            <a:off x="3474720" y="822960"/>
            <a:ext cx="21945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New Patient Added</a:t>
            </a:r>
            <a:endParaRPr lang="en-US" sz="1300" dirty="0"/>
          </a:p>
        </p:txBody>
      </p:sp>
      <p:sp>
        <p:nvSpPr>
          <p:cNvPr id="9" name="Shape 7"/>
          <p:cNvSpPr/>
          <p:nvPr/>
        </p:nvSpPr>
        <p:spPr>
          <a:xfrm>
            <a:off x="4434840" y="1417320"/>
            <a:ext cx="274320" cy="347472"/>
          </a:xfrm>
          <a:prstGeom prst="rect">
            <a:avLst/>
          </a:prstGeom>
          <a:solidFill>
            <a:srgbClr val="000000"/>
          </a:solidFill>
          <a:ln w="12700">
            <a:solidFill>
              <a:srgbClr val="000000"/>
            </a:solidFill>
            <a:prstDash val="solid"/>
          </a:ln>
        </p:spPr>
      </p:sp>
      <p:sp>
        <p:nvSpPr>
          <p:cNvPr id="10" name="Text 8"/>
          <p:cNvSpPr/>
          <p:nvPr/>
        </p:nvSpPr>
        <p:spPr>
          <a:xfrm>
            <a:off x="3200400" y="1435608"/>
            <a:ext cx="2743200" cy="292608"/>
          </a:xfrm>
          <a:prstGeom prst="rect">
            <a:avLst/>
          </a:prstGeom>
          <a:noFill/>
          <a:ln/>
        </p:spPr>
        <p:txBody>
          <a:bodyPr wrap="square"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priority?</a:t>
            </a:r>
            <a:endParaRPr lang="en-US" sz="1300" dirty="0"/>
          </a:p>
        </p:txBody>
      </p:sp>
      <p:sp>
        <p:nvSpPr>
          <p:cNvPr id="11" name="Shape 9"/>
          <p:cNvSpPr/>
          <p:nvPr/>
        </p:nvSpPr>
        <p:spPr>
          <a:xfrm>
            <a:off x="274320" y="1920240"/>
            <a:ext cx="3474720" cy="566928"/>
          </a:xfrm>
          <a:prstGeom prst="rect">
            <a:avLst/>
          </a:prstGeom>
          <a:solidFill>
            <a:srgbClr val="1A365D"/>
          </a:solidFill>
          <a:ln w="12700">
            <a:solidFill>
              <a:srgbClr val="000000"/>
            </a:solidFill>
            <a:prstDash val="solid"/>
          </a:ln>
        </p:spPr>
      </p:sp>
      <p:sp>
        <p:nvSpPr>
          <p:cNvPr id="12" name="Text 10"/>
          <p:cNvSpPr/>
          <p:nvPr/>
        </p:nvSpPr>
        <p:spPr>
          <a:xfrm>
            <a:off x="274320" y="1920240"/>
            <a:ext cx="34747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NORMAL  →  BST</a:t>
            </a:r>
            <a:endParaRPr lang="en-US" sz="1400" dirty="0"/>
          </a:p>
        </p:txBody>
      </p:sp>
      <p:sp>
        <p:nvSpPr>
          <p:cNvPr id="13" name="Shape 11"/>
          <p:cNvSpPr/>
          <p:nvPr/>
        </p:nvSpPr>
        <p:spPr>
          <a:xfrm>
            <a:off x="5394960" y="1920240"/>
            <a:ext cx="3474720" cy="566928"/>
          </a:xfrm>
          <a:prstGeom prst="rect">
            <a:avLst/>
          </a:prstGeom>
          <a:solidFill>
            <a:srgbClr val="8B0000"/>
          </a:solidFill>
          <a:ln w="12700">
            <a:solidFill>
              <a:srgbClr val="000000"/>
            </a:solidFill>
            <a:prstDash val="solid"/>
          </a:ln>
        </p:spPr>
      </p:sp>
      <p:sp>
        <p:nvSpPr>
          <p:cNvPr id="14" name="Text 12"/>
          <p:cNvSpPr/>
          <p:nvPr/>
        </p:nvSpPr>
        <p:spPr>
          <a:xfrm>
            <a:off x="5394960" y="1920240"/>
            <a:ext cx="34747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EMERGENCY / URGENT  →  AVL</a:t>
            </a:r>
            <a:endParaRPr lang="en-US" sz="1300" dirty="0"/>
          </a:p>
        </p:txBody>
      </p:sp>
      <p:sp>
        <p:nvSpPr>
          <p:cNvPr id="15" name="Shape 13"/>
          <p:cNvSpPr/>
          <p:nvPr/>
        </p:nvSpPr>
        <p:spPr>
          <a:xfrm>
            <a:off x="274320" y="2670048"/>
            <a:ext cx="3474720" cy="2084832"/>
          </a:xfrm>
          <a:prstGeom prst="rect">
            <a:avLst/>
          </a:prstGeom>
          <a:solidFill>
            <a:srgbClr val="FFFFFF"/>
          </a:solidFill>
          <a:ln w="12700">
            <a:solidFill>
              <a:srgbClr val="1A365D"/>
            </a:solidFill>
            <a:prstDash val="solid"/>
          </a:ln>
        </p:spPr>
      </p:sp>
      <p:sp>
        <p:nvSpPr>
          <p:cNvPr id="16" name="Text 14"/>
          <p:cNvSpPr/>
          <p:nvPr/>
        </p:nvSpPr>
        <p:spPr>
          <a:xfrm>
            <a:off x="274320" y="2670048"/>
            <a:ext cx="3474720" cy="502920"/>
          </a:xfrm>
          <a:prstGeom prst="rect">
            <a:avLst/>
          </a:prstGeom>
          <a:noFill/>
          <a:ln/>
        </p:spPr>
        <p:txBody>
          <a:bodyPr wrap="square" lIns="0" tIns="0" rIns="0" bIns="0" rtlCol="0" anchor="ctr"/>
          <a:lstStyle/>
          <a:p>
            <a:pPr algn="ctr" indent="0" marL="0">
              <a:buNone/>
            </a:pPr>
            <a:r>
              <a:rPr lang="en-US" sz="1300" b="1" dirty="0">
                <a:solidFill>
                  <a:srgbClr val="1A365D"/>
                </a:solidFill>
                <a:latin typeface="Arial" pitchFamily="34" charset="0"/>
                <a:ea typeface="Arial" pitchFamily="34" charset="-122"/>
                <a:cs typeface="Arial" pitchFamily="34" charset="-120"/>
              </a:rPr>
              <a:t>BST (normalTree)</a:t>
            </a:r>
            <a:endParaRPr lang="en-US" sz="1300" dirty="0"/>
          </a:p>
          <a:p>
            <a:pPr algn="ctr" indent="0" marL="0">
              <a:buNone/>
            </a:pPr>
            <a:r>
              <a:rPr lang="en-US" sz="1300" b="1" dirty="0">
                <a:solidFill>
                  <a:srgbClr val="1A365D"/>
                </a:solidFill>
                <a:latin typeface="Arial" pitchFamily="34" charset="0"/>
                <a:ea typeface="Arial" pitchFamily="34" charset="-122"/>
                <a:cs typeface="Arial" pitchFamily="34" charset="-120"/>
              </a:rPr>
              <a:t>Key = Patient ID</a:t>
            </a:r>
            <a:endParaRPr lang="en-US" sz="1300" dirty="0"/>
          </a:p>
        </p:txBody>
      </p:sp>
      <p:sp>
        <p:nvSpPr>
          <p:cNvPr id="17" name="Text 15"/>
          <p:cNvSpPr/>
          <p:nvPr/>
        </p:nvSpPr>
        <p:spPr>
          <a:xfrm>
            <a:off x="411480" y="3200400"/>
            <a:ext cx="3200400" cy="141732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Insert / Delete / Search by ID</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Inorder = sorted by ID</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O(log n) average</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No balancing (height unbounded)</a:t>
            </a:r>
            <a:endParaRPr lang="en-US" sz="1200" dirty="0"/>
          </a:p>
        </p:txBody>
      </p:sp>
      <p:sp>
        <p:nvSpPr>
          <p:cNvPr id="18" name="Shape 16"/>
          <p:cNvSpPr/>
          <p:nvPr/>
        </p:nvSpPr>
        <p:spPr>
          <a:xfrm>
            <a:off x="5394960" y="2670048"/>
            <a:ext cx="3474720" cy="2084832"/>
          </a:xfrm>
          <a:prstGeom prst="rect">
            <a:avLst/>
          </a:prstGeom>
          <a:solidFill>
            <a:srgbClr val="FFFFFF"/>
          </a:solidFill>
          <a:ln w="12700">
            <a:solidFill>
              <a:srgbClr val="8B0000"/>
            </a:solidFill>
            <a:prstDash val="solid"/>
          </a:ln>
        </p:spPr>
      </p:sp>
      <p:sp>
        <p:nvSpPr>
          <p:cNvPr id="19" name="Text 17"/>
          <p:cNvSpPr/>
          <p:nvPr/>
        </p:nvSpPr>
        <p:spPr>
          <a:xfrm>
            <a:off x="5394960" y="2670048"/>
            <a:ext cx="3474720" cy="502920"/>
          </a:xfrm>
          <a:prstGeom prst="rect">
            <a:avLst/>
          </a:prstGeom>
          <a:noFill/>
          <a:ln/>
        </p:spPr>
        <p:txBody>
          <a:bodyPr wrap="square" lIns="0" tIns="0" rIns="0" bIns="0" rtlCol="0" anchor="ctr"/>
          <a:lstStyle/>
          <a:p>
            <a:pPr algn="ctr" indent="0" marL="0">
              <a:buNone/>
            </a:pPr>
            <a:r>
              <a:rPr lang="en-US" sz="1300" b="1" dirty="0">
                <a:solidFill>
                  <a:srgbClr val="8B0000"/>
                </a:solidFill>
                <a:latin typeface="Arial" pitchFamily="34" charset="0"/>
                <a:ea typeface="Arial" pitchFamily="34" charset="-122"/>
                <a:cs typeface="Arial" pitchFamily="34" charset="-120"/>
              </a:rPr>
              <a:t>AVL (emergencyTree)</a:t>
            </a:r>
            <a:endParaRPr lang="en-US" sz="1300" dirty="0"/>
          </a:p>
          <a:p>
            <a:pPr algn="ctr" indent="0" marL="0">
              <a:buNone/>
            </a:pPr>
            <a:r>
              <a:rPr lang="en-US" sz="1300" b="1" dirty="0">
                <a:solidFill>
                  <a:srgbClr val="8B0000"/>
                </a:solidFill>
                <a:latin typeface="Arial" pitchFamily="34" charset="0"/>
                <a:ea typeface="Arial" pitchFamily="34" charset="-122"/>
                <a:cs typeface="Arial" pitchFamily="34" charset="-120"/>
              </a:rPr>
              <a:t>Key = (priority, ID)</a:t>
            </a:r>
            <a:endParaRPr lang="en-US" sz="1300" dirty="0"/>
          </a:p>
        </p:txBody>
      </p:sp>
      <p:sp>
        <p:nvSpPr>
          <p:cNvPr id="20" name="Text 18"/>
          <p:cNvSpPr/>
          <p:nvPr/>
        </p:nvSpPr>
        <p:spPr>
          <a:xfrm>
            <a:off x="5532120" y="3200400"/>
            <a:ext cx="3200400" cy="141732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Insert / Delete / Search</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Inorder = Emergency first, then Urgent</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O(log n) guaranteed</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LL / RR / LR / RL rotations</a:t>
            </a:r>
            <a:endParaRPr lang="en-US" sz="1200" dirty="0"/>
          </a:p>
        </p:txBody>
      </p:sp>
      <p:sp>
        <p:nvSpPr>
          <p:cNvPr id="21" name="Text 19"/>
          <p:cNvSpPr/>
          <p:nvPr/>
        </p:nvSpPr>
        <p:spPr>
          <a:xfrm>
            <a:off x="274320" y="1664208"/>
            <a:ext cx="3474720" cy="256032"/>
          </a:xfrm>
          <a:prstGeom prst="rect">
            <a:avLst/>
          </a:prstGeom>
          <a:noFill/>
          <a:ln/>
        </p:spPr>
        <p:txBody>
          <a:bodyPr wrap="square" rtlCol="0" anchor="ctr"/>
          <a:lstStyle/>
          <a:p>
            <a:pPr indent="0" marL="0">
              <a:buNone/>
            </a:pPr>
            <a:r>
              <a:rPr lang="en-US" sz="1100" b="1" dirty="0">
                <a:solidFill>
                  <a:srgbClr val="1A365D"/>
                </a:solidFill>
                <a:latin typeface="Arial" pitchFamily="34" charset="0"/>
                <a:ea typeface="Arial" pitchFamily="34" charset="-122"/>
                <a:cs typeface="Arial" pitchFamily="34" charset="-120"/>
              </a:rPr>
              <a:t>priority == NORMAL</a:t>
            </a:r>
            <a:endParaRPr lang="en-US" sz="1100" dirty="0"/>
          </a:p>
        </p:txBody>
      </p:sp>
      <p:sp>
        <p:nvSpPr>
          <p:cNvPr id="22" name="Text 20"/>
          <p:cNvSpPr/>
          <p:nvPr/>
        </p:nvSpPr>
        <p:spPr>
          <a:xfrm>
            <a:off x="5394960" y="1664208"/>
            <a:ext cx="3474720" cy="256032"/>
          </a:xfrm>
          <a:prstGeom prst="rect">
            <a:avLst/>
          </a:prstGeom>
          <a:noFill/>
          <a:ln/>
        </p:spPr>
        <p:txBody>
          <a:bodyPr wrap="square" rtlCol="0" anchor="ctr"/>
          <a:lstStyle/>
          <a:p>
            <a:pPr indent="0" marL="0">
              <a:buNone/>
            </a:pPr>
            <a:r>
              <a:rPr lang="en-US" sz="1100" b="1" dirty="0">
                <a:solidFill>
                  <a:srgbClr val="8B0000"/>
                </a:solidFill>
                <a:latin typeface="Arial" pitchFamily="34" charset="0"/>
                <a:ea typeface="Arial" pitchFamily="34" charset="-122"/>
                <a:cs typeface="Arial" pitchFamily="34" charset="-120"/>
              </a:rPr>
              <a:t>EMERGENCY or URGENT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65D"/>
          </a:solidFill>
          <a:ln w="12700">
            <a:solidFill>
              <a:srgbClr val="1A365D"/>
            </a:solidFill>
            <a:prstDash val="solid"/>
          </a:ln>
        </p:spPr>
      </p:sp>
      <p:sp>
        <p:nvSpPr>
          <p:cNvPr id="3" name="Text 1"/>
          <p:cNvSpPr/>
          <p:nvPr/>
        </p:nvSpPr>
        <p:spPr>
          <a:xfrm>
            <a:off x="228600" y="91440"/>
            <a:ext cx="86868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AVL Rotations — Maintaining Balance</a:t>
            </a:r>
            <a:endParaRPr lang="en-US" sz="2800" dirty="0"/>
          </a:p>
        </p:txBody>
      </p:sp>
      <p:sp>
        <p:nvSpPr>
          <p:cNvPr id="4" name="Shape 2"/>
          <p:cNvSpPr/>
          <p:nvPr/>
        </p:nvSpPr>
        <p:spPr>
          <a:xfrm>
            <a:off x="0" y="685800"/>
            <a:ext cx="9144000" cy="54864"/>
          </a:xfrm>
          <a:prstGeom prst="rect">
            <a:avLst/>
          </a:prstGeom>
          <a:solidFill>
            <a:srgbClr val="000000"/>
          </a:solidFill>
          <a:ln w="12700">
            <a:solidFill>
              <a:srgbClr val="000000"/>
            </a:solidFill>
            <a:prstDash val="solid"/>
          </a:ln>
        </p:spPr>
      </p:sp>
      <p:sp>
        <p:nvSpPr>
          <p:cNvPr id="5" name="Shape 3"/>
          <p:cNvSpPr/>
          <p:nvPr/>
        </p:nvSpPr>
        <p:spPr>
          <a:xfrm>
            <a:off x="0" y="4937760"/>
            <a:ext cx="9144000" cy="210312"/>
          </a:xfrm>
          <a:prstGeom prst="rect">
            <a:avLst/>
          </a:prstGeom>
          <a:solidFill>
            <a:srgbClr val="1A365D"/>
          </a:solidFill>
          <a:ln w="12700">
            <a:solidFill>
              <a:srgbClr val="1A365D"/>
            </a:solidFill>
            <a:prstDash val="solid"/>
          </a:ln>
        </p:spPr>
      </p:sp>
      <p:sp>
        <p:nvSpPr>
          <p:cNvPr id="6" name="Text 4"/>
          <p:cNvSpPr/>
          <p:nvPr/>
        </p:nvSpPr>
        <p:spPr>
          <a:xfrm>
            <a:off x="182880" y="4956048"/>
            <a:ext cx="8778240" cy="173736"/>
          </a:xfrm>
          <a:prstGeom prst="rect">
            <a:avLst/>
          </a:prstGeom>
          <a:noFill/>
          <a:ln/>
        </p:spPr>
        <p:txBody>
          <a:bodyPr wrap="square" lIns="0" tIns="0" rIns="0" bIns="0" rtlCol="0" anchor="ctr"/>
          <a:lstStyle/>
          <a:p>
            <a:pPr indent="0" marL="0">
              <a:buNone/>
            </a:pPr>
            <a:r>
              <a:rPr lang="en-US" sz="900" dirty="0">
                <a:solidFill>
                  <a:srgbClr val="CCDDEE"/>
                </a:solidFill>
                <a:latin typeface="Arial" pitchFamily="34" charset="0"/>
                <a:ea typeface="Arial" pitchFamily="34" charset="-122"/>
                <a:cs typeface="Arial" pitchFamily="34" charset="-120"/>
              </a:rPr>
              <a:t>UET Lahore  |  CMPE 212  |  Hospital Patient Management System  |  Session 2024-2025</a:t>
            </a:r>
            <a:endParaRPr lang="en-US" sz="900" dirty="0"/>
          </a:p>
        </p:txBody>
      </p:sp>
      <p:sp>
        <p:nvSpPr>
          <p:cNvPr id="7" name="Text 5"/>
          <p:cNvSpPr/>
          <p:nvPr/>
        </p:nvSpPr>
        <p:spPr>
          <a:xfrm>
            <a:off x="274320" y="749808"/>
            <a:ext cx="8595360" cy="320040"/>
          </a:xfrm>
          <a:prstGeom prst="rect">
            <a:avLst/>
          </a:prstGeom>
          <a:noFill/>
          <a:ln/>
        </p:spPr>
        <p:txBody>
          <a:bodyPr wrap="square" rtlCol="0" anchor="ctr"/>
          <a:lstStyle/>
          <a:p>
            <a:pPr indent="0" marL="0">
              <a:buNone/>
            </a:pPr>
            <a:r>
              <a:rPr lang="en-US" sz="1400" dirty="0">
                <a:solidFill>
                  <a:srgbClr val="444444"/>
                </a:solidFill>
                <a:latin typeface="Arial" pitchFamily="34" charset="0"/>
                <a:ea typeface="Arial" pitchFamily="34" charset="-122"/>
                <a:cs typeface="Arial" pitchFamily="34" charset="-120"/>
              </a:rPr>
              <a:t>When |Balance Factor| &gt; 1, one of four rotations restores balance in O(1):</a:t>
            </a:r>
            <a:endParaRPr lang="en-US" sz="1400" dirty="0"/>
          </a:p>
        </p:txBody>
      </p:sp>
      <p:sp>
        <p:nvSpPr>
          <p:cNvPr id="8" name="Shape 6"/>
          <p:cNvSpPr/>
          <p:nvPr/>
        </p:nvSpPr>
        <p:spPr>
          <a:xfrm>
            <a:off x="228600" y="1143000"/>
            <a:ext cx="4251960" cy="1737360"/>
          </a:xfrm>
          <a:prstGeom prst="rect">
            <a:avLst/>
          </a:prstGeom>
          <a:solidFill>
            <a:srgbClr val="F5F5F5"/>
          </a:solidFill>
          <a:ln w="12700">
            <a:solidFill>
              <a:srgbClr val="000000"/>
            </a:solidFill>
            <a:prstDash val="solid"/>
          </a:ln>
        </p:spPr>
      </p:sp>
      <p:sp>
        <p:nvSpPr>
          <p:cNvPr id="9" name="Shape 7"/>
          <p:cNvSpPr/>
          <p:nvPr/>
        </p:nvSpPr>
        <p:spPr>
          <a:xfrm>
            <a:off x="228600" y="1143000"/>
            <a:ext cx="4251960" cy="365760"/>
          </a:xfrm>
          <a:prstGeom prst="rect">
            <a:avLst/>
          </a:prstGeom>
          <a:solidFill>
            <a:srgbClr val="1A365D"/>
          </a:solidFill>
          <a:ln w="12700">
            <a:solidFill>
              <a:srgbClr val="1A365D"/>
            </a:solidFill>
            <a:prstDash val="solid"/>
          </a:ln>
        </p:spPr>
      </p:sp>
      <p:sp>
        <p:nvSpPr>
          <p:cNvPr id="10" name="Text 8"/>
          <p:cNvSpPr/>
          <p:nvPr/>
        </p:nvSpPr>
        <p:spPr>
          <a:xfrm>
            <a:off x="228600" y="1143000"/>
            <a:ext cx="42519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LL  →  Right Rotation</a:t>
            </a:r>
            <a:endParaRPr lang="en-US" sz="1300" dirty="0"/>
          </a:p>
        </p:txBody>
      </p:sp>
      <p:sp>
        <p:nvSpPr>
          <p:cNvPr id="11" name="Text 9"/>
          <p:cNvSpPr/>
          <p:nvPr/>
        </p:nvSpPr>
        <p:spPr>
          <a:xfrm>
            <a:off x="320040" y="1554480"/>
            <a:ext cx="1828800" cy="256032"/>
          </a:xfrm>
          <a:prstGeom prst="rect">
            <a:avLst/>
          </a:prstGeom>
          <a:noFill/>
          <a:ln/>
        </p:spPr>
        <p:txBody>
          <a:bodyPr wrap="square" rtlCol="0" anchor="ctr"/>
          <a:lstStyle/>
          <a:p>
            <a:pPr indent="0" marL="0">
              <a:buNone/>
            </a:pPr>
            <a:r>
              <a:rPr lang="en-US" sz="1100" b="1" dirty="0">
                <a:solidFill>
                  <a:srgbClr val="000000"/>
                </a:solidFill>
                <a:latin typeface="Arial" pitchFamily="34" charset="0"/>
                <a:ea typeface="Arial" pitchFamily="34" charset="-122"/>
                <a:cs typeface="Arial" pitchFamily="34" charset="-120"/>
              </a:rPr>
              <a:t>BEFORE:</a:t>
            </a:r>
            <a:endParaRPr lang="en-US" sz="1100" dirty="0"/>
          </a:p>
        </p:txBody>
      </p:sp>
      <p:sp>
        <p:nvSpPr>
          <p:cNvPr id="12" name="Text 10"/>
          <p:cNvSpPr/>
          <p:nvPr/>
        </p:nvSpPr>
        <p:spPr>
          <a:xfrm>
            <a:off x="320040" y="1783080"/>
            <a:ext cx="1828800" cy="914400"/>
          </a:xfrm>
          <a:prstGeom prst="rect">
            <a:avLst/>
          </a:prstGeom>
          <a:noFill/>
          <a:ln/>
        </p:spPr>
        <p:txBody>
          <a:bodyPr wrap="square" rtlCol="0" anchor="ctr"/>
          <a:lstStyle/>
          <a:p>
            <a:pPr indent="0" marL="0">
              <a:buNone/>
            </a:pPr>
            <a:r>
              <a:rPr lang="en-US" sz="1300" dirty="0">
                <a:solidFill>
                  <a:srgbClr val="1A365D"/>
                </a:solidFill>
                <a:latin typeface="Courier New" pitchFamily="34" charset="0"/>
                <a:ea typeface="Courier New" pitchFamily="34" charset="-122"/>
                <a:cs typeface="Courier New" pitchFamily="34" charset="-120"/>
              </a:rPr>
              <a:t>    z</a:t>
            </a:r>
            <a:endParaRPr lang="en-US" sz="1300" dirty="0"/>
          </a:p>
          <a:p>
            <a:pPr indent="0" marL="0">
              <a:buNone/>
            </a:pPr>
            <a:r>
              <a:rPr lang="en-US" sz="1300" dirty="0">
                <a:solidFill>
                  <a:srgbClr val="1A365D"/>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A365D"/>
                </a:solidFill>
                <a:latin typeface="Courier New" pitchFamily="34" charset="0"/>
                <a:ea typeface="Courier New" pitchFamily="34" charset="-122"/>
                <a:cs typeface="Courier New" pitchFamily="34" charset="-120"/>
              </a:rPr>
              <a:t>  y</a:t>
            </a:r>
            <a:endParaRPr lang="en-US" sz="1300" dirty="0"/>
          </a:p>
          <a:p>
            <a:pPr indent="0" marL="0">
              <a:buNone/>
            </a:pPr>
            <a:r>
              <a:rPr lang="en-US" sz="1300" dirty="0">
                <a:solidFill>
                  <a:srgbClr val="1A365D"/>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A365D"/>
                </a:solidFill>
                <a:latin typeface="Courier New" pitchFamily="34" charset="0"/>
                <a:ea typeface="Courier New" pitchFamily="34" charset="-122"/>
                <a:cs typeface="Courier New" pitchFamily="34" charset="-120"/>
              </a:rPr>
              <a:t>x</a:t>
            </a:r>
            <a:endParaRPr lang="en-US" sz="1300" dirty="0"/>
          </a:p>
        </p:txBody>
      </p:sp>
      <p:sp>
        <p:nvSpPr>
          <p:cNvPr id="13" name="Text 11"/>
          <p:cNvSpPr/>
          <p:nvPr/>
        </p:nvSpPr>
        <p:spPr>
          <a:xfrm>
            <a:off x="2331720" y="1554480"/>
            <a:ext cx="2011680" cy="256032"/>
          </a:xfrm>
          <a:prstGeom prst="rect">
            <a:avLst/>
          </a:prstGeom>
          <a:noFill/>
          <a:ln/>
        </p:spPr>
        <p:txBody>
          <a:bodyPr wrap="square" rtlCol="0" anchor="ctr"/>
          <a:lstStyle/>
          <a:p>
            <a:pPr indent="0" marL="0">
              <a:buNone/>
            </a:pPr>
            <a:r>
              <a:rPr lang="en-US" sz="1100" b="1" dirty="0">
                <a:solidFill>
                  <a:srgbClr val="000000"/>
                </a:solidFill>
                <a:latin typeface="Arial" pitchFamily="34" charset="0"/>
                <a:ea typeface="Arial" pitchFamily="34" charset="-122"/>
                <a:cs typeface="Arial" pitchFamily="34" charset="-120"/>
              </a:rPr>
              <a:t>AFTER:</a:t>
            </a:r>
            <a:endParaRPr lang="en-US" sz="1100" dirty="0"/>
          </a:p>
        </p:txBody>
      </p:sp>
      <p:sp>
        <p:nvSpPr>
          <p:cNvPr id="14" name="Text 12"/>
          <p:cNvSpPr/>
          <p:nvPr/>
        </p:nvSpPr>
        <p:spPr>
          <a:xfrm>
            <a:off x="2331720" y="1783080"/>
            <a:ext cx="2011680" cy="914400"/>
          </a:xfrm>
          <a:prstGeom prst="rect">
            <a:avLst/>
          </a:prstGeom>
          <a:noFill/>
          <a:ln/>
        </p:spPr>
        <p:txBody>
          <a:bodyPr wrap="square" rtlCol="0" anchor="ctr"/>
          <a:lstStyle/>
          <a:p>
            <a:pPr indent="0" marL="0">
              <a:buNone/>
            </a:pPr>
            <a:r>
              <a:rPr lang="en-US" sz="1300" dirty="0">
                <a:solidFill>
                  <a:srgbClr val="1A5C2E"/>
                </a:solidFill>
                <a:latin typeface="Courier New" pitchFamily="34" charset="0"/>
                <a:ea typeface="Courier New" pitchFamily="34" charset="-122"/>
                <a:cs typeface="Courier New" pitchFamily="34" charset="-120"/>
              </a:rPr>
              <a:t>  y</a:t>
            </a:r>
            <a:endParaRPr lang="en-US" sz="1300" dirty="0"/>
          </a:p>
          <a:p>
            <a:pPr indent="0" marL="0">
              <a:buNone/>
            </a:pPr>
            <a:r>
              <a:rPr lang="en-US" sz="1300" dirty="0">
                <a:solidFill>
                  <a:srgbClr val="1A5C2E"/>
                </a:solidFill>
                <a:latin typeface="Courier New" pitchFamily="34" charset="0"/>
                <a:ea typeface="Courier New" pitchFamily="34" charset="-122"/>
                <a:cs typeface="Courier New" pitchFamily="34" charset="-120"/>
              </a:rPr>
              <a:t> /  \</a:t>
            </a:r>
            <a:endParaRPr lang="en-US" sz="1300" dirty="0"/>
          </a:p>
          <a:p>
            <a:pPr indent="0" marL="0">
              <a:buNone/>
            </a:pPr>
            <a:r>
              <a:rPr lang="en-US" sz="1300" dirty="0">
                <a:solidFill>
                  <a:srgbClr val="1A5C2E"/>
                </a:solidFill>
                <a:latin typeface="Courier New" pitchFamily="34" charset="0"/>
                <a:ea typeface="Courier New" pitchFamily="34" charset="-122"/>
                <a:cs typeface="Courier New" pitchFamily="34" charset="-120"/>
              </a:rPr>
              <a:t>x    z</a:t>
            </a:r>
            <a:endParaRPr lang="en-US" sz="1300" dirty="0"/>
          </a:p>
        </p:txBody>
      </p:sp>
      <p:sp>
        <p:nvSpPr>
          <p:cNvPr id="15" name="Shape 13"/>
          <p:cNvSpPr/>
          <p:nvPr/>
        </p:nvSpPr>
        <p:spPr>
          <a:xfrm>
            <a:off x="4709160" y="1143000"/>
            <a:ext cx="4251960" cy="1737360"/>
          </a:xfrm>
          <a:prstGeom prst="rect">
            <a:avLst/>
          </a:prstGeom>
          <a:solidFill>
            <a:srgbClr val="F5F5F5"/>
          </a:solidFill>
          <a:ln w="12700">
            <a:solidFill>
              <a:srgbClr val="000000"/>
            </a:solidFill>
            <a:prstDash val="solid"/>
          </a:ln>
        </p:spPr>
      </p:sp>
      <p:sp>
        <p:nvSpPr>
          <p:cNvPr id="16" name="Shape 14"/>
          <p:cNvSpPr/>
          <p:nvPr/>
        </p:nvSpPr>
        <p:spPr>
          <a:xfrm>
            <a:off x="4709160" y="1143000"/>
            <a:ext cx="4251960" cy="365760"/>
          </a:xfrm>
          <a:prstGeom prst="rect">
            <a:avLst/>
          </a:prstGeom>
          <a:solidFill>
            <a:srgbClr val="8B0000"/>
          </a:solidFill>
          <a:ln w="12700">
            <a:solidFill>
              <a:srgbClr val="8B0000"/>
            </a:solidFill>
            <a:prstDash val="solid"/>
          </a:ln>
        </p:spPr>
      </p:sp>
      <p:sp>
        <p:nvSpPr>
          <p:cNvPr id="17" name="Text 15"/>
          <p:cNvSpPr/>
          <p:nvPr/>
        </p:nvSpPr>
        <p:spPr>
          <a:xfrm>
            <a:off x="4709160" y="1143000"/>
            <a:ext cx="42519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RR  →  Left Rotation</a:t>
            </a:r>
            <a:endParaRPr lang="en-US" sz="1300" dirty="0"/>
          </a:p>
        </p:txBody>
      </p:sp>
      <p:sp>
        <p:nvSpPr>
          <p:cNvPr id="18" name="Text 16"/>
          <p:cNvSpPr/>
          <p:nvPr/>
        </p:nvSpPr>
        <p:spPr>
          <a:xfrm>
            <a:off x="4800600" y="1554480"/>
            <a:ext cx="1828800" cy="256032"/>
          </a:xfrm>
          <a:prstGeom prst="rect">
            <a:avLst/>
          </a:prstGeom>
          <a:noFill/>
          <a:ln/>
        </p:spPr>
        <p:txBody>
          <a:bodyPr wrap="square" rtlCol="0" anchor="ctr"/>
          <a:lstStyle/>
          <a:p>
            <a:pPr indent="0" marL="0">
              <a:buNone/>
            </a:pPr>
            <a:r>
              <a:rPr lang="en-US" sz="1100" b="1" dirty="0">
                <a:solidFill>
                  <a:srgbClr val="000000"/>
                </a:solidFill>
                <a:latin typeface="Arial" pitchFamily="34" charset="0"/>
                <a:ea typeface="Arial" pitchFamily="34" charset="-122"/>
                <a:cs typeface="Arial" pitchFamily="34" charset="-120"/>
              </a:rPr>
              <a:t>BEFORE:</a:t>
            </a:r>
            <a:endParaRPr lang="en-US" sz="1100" dirty="0"/>
          </a:p>
        </p:txBody>
      </p:sp>
      <p:sp>
        <p:nvSpPr>
          <p:cNvPr id="19" name="Text 17"/>
          <p:cNvSpPr/>
          <p:nvPr/>
        </p:nvSpPr>
        <p:spPr>
          <a:xfrm>
            <a:off x="4800600" y="1783080"/>
            <a:ext cx="1828800" cy="914400"/>
          </a:xfrm>
          <a:prstGeom prst="rect">
            <a:avLst/>
          </a:prstGeom>
          <a:noFill/>
          <a:ln/>
        </p:spPr>
        <p:txBody>
          <a:bodyPr wrap="square" rtlCol="0" anchor="ctr"/>
          <a:lstStyle/>
          <a:p>
            <a:pPr indent="0" marL="0">
              <a:buNone/>
            </a:pPr>
            <a:r>
              <a:rPr lang="en-US" sz="1300" dirty="0">
                <a:solidFill>
                  <a:srgbClr val="8B0000"/>
                </a:solidFill>
                <a:latin typeface="Courier New" pitchFamily="34" charset="0"/>
                <a:ea typeface="Courier New" pitchFamily="34" charset="-122"/>
                <a:cs typeface="Courier New" pitchFamily="34" charset="-120"/>
              </a:rPr>
              <a:t>z</a:t>
            </a:r>
            <a:endParaRPr lang="en-US" sz="1300" dirty="0"/>
          </a:p>
          <a:p>
            <a:pPr indent="0" marL="0">
              <a:buNone/>
            </a:pPr>
            <a:r>
              <a:rPr lang="en-US" sz="1300" dirty="0">
                <a:solidFill>
                  <a:srgbClr val="8B00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B0000"/>
                </a:solidFill>
                <a:latin typeface="Courier New" pitchFamily="34" charset="0"/>
                <a:ea typeface="Courier New" pitchFamily="34" charset="-122"/>
                <a:cs typeface="Courier New" pitchFamily="34" charset="-120"/>
              </a:rPr>
              <a:t>  y</a:t>
            </a:r>
            <a:endParaRPr lang="en-US" sz="1300" dirty="0"/>
          </a:p>
          <a:p>
            <a:pPr indent="0" marL="0">
              <a:buNone/>
            </a:pPr>
            <a:r>
              <a:rPr lang="en-US" sz="1300" dirty="0">
                <a:solidFill>
                  <a:srgbClr val="8B0000"/>
                </a:solidFill>
                <a:latin typeface="Courier New" pitchFamily="34" charset="0"/>
                <a:ea typeface="Courier New" pitchFamily="34" charset="-122"/>
                <a:cs typeface="Courier New" pitchFamily="34" charset="-120"/>
              </a:rPr>
              <a:t>   \</a:t>
            </a:r>
            <a:endParaRPr lang="en-US" sz="1300" dirty="0"/>
          </a:p>
        </p:txBody>
      </p:sp>
      <p:sp>
        <p:nvSpPr>
          <p:cNvPr id="20" name="Text 18"/>
          <p:cNvSpPr/>
          <p:nvPr/>
        </p:nvSpPr>
        <p:spPr>
          <a:xfrm>
            <a:off x="6812280" y="1554480"/>
            <a:ext cx="2011680" cy="256032"/>
          </a:xfrm>
          <a:prstGeom prst="rect">
            <a:avLst/>
          </a:prstGeom>
          <a:noFill/>
          <a:ln/>
        </p:spPr>
        <p:txBody>
          <a:bodyPr wrap="square" rtlCol="0" anchor="ctr"/>
          <a:lstStyle/>
          <a:p>
            <a:pPr indent="0" marL="0">
              <a:buNone/>
            </a:pPr>
            <a:r>
              <a:rPr lang="en-US" sz="1100" b="1" dirty="0">
                <a:solidFill>
                  <a:srgbClr val="000000"/>
                </a:solidFill>
                <a:latin typeface="Arial" pitchFamily="34" charset="0"/>
                <a:ea typeface="Arial" pitchFamily="34" charset="-122"/>
                <a:cs typeface="Arial" pitchFamily="34" charset="-120"/>
              </a:rPr>
              <a:t>AFTER:</a:t>
            </a:r>
            <a:endParaRPr lang="en-US" sz="1100" dirty="0"/>
          </a:p>
        </p:txBody>
      </p:sp>
      <p:sp>
        <p:nvSpPr>
          <p:cNvPr id="21" name="Text 19"/>
          <p:cNvSpPr/>
          <p:nvPr/>
        </p:nvSpPr>
        <p:spPr>
          <a:xfrm>
            <a:off x="6812280" y="1783080"/>
            <a:ext cx="2011680" cy="914400"/>
          </a:xfrm>
          <a:prstGeom prst="rect">
            <a:avLst/>
          </a:prstGeom>
          <a:noFill/>
          <a:ln/>
        </p:spPr>
        <p:txBody>
          <a:bodyPr wrap="square" rtlCol="0" anchor="ctr"/>
          <a:lstStyle/>
          <a:p>
            <a:pPr indent="0" marL="0">
              <a:buNone/>
            </a:pPr>
            <a:r>
              <a:rPr lang="en-US" sz="1300" dirty="0">
                <a:solidFill>
                  <a:srgbClr val="1A5C2E"/>
                </a:solidFill>
                <a:latin typeface="Courier New" pitchFamily="34" charset="0"/>
                <a:ea typeface="Courier New" pitchFamily="34" charset="-122"/>
                <a:cs typeface="Courier New" pitchFamily="34" charset="-120"/>
              </a:rPr>
              <a:t>  y</a:t>
            </a:r>
            <a:endParaRPr lang="en-US" sz="1300" dirty="0"/>
          </a:p>
          <a:p>
            <a:pPr indent="0" marL="0">
              <a:buNone/>
            </a:pPr>
            <a:r>
              <a:rPr lang="en-US" sz="1300" dirty="0">
                <a:solidFill>
                  <a:srgbClr val="1A5C2E"/>
                </a:solidFill>
                <a:latin typeface="Courier New" pitchFamily="34" charset="0"/>
                <a:ea typeface="Courier New" pitchFamily="34" charset="-122"/>
                <a:cs typeface="Courier New" pitchFamily="34" charset="-120"/>
              </a:rPr>
              <a:t> /  \</a:t>
            </a:r>
            <a:endParaRPr lang="en-US" sz="1300" dirty="0"/>
          </a:p>
          <a:p>
            <a:pPr indent="0" marL="0">
              <a:buNone/>
            </a:pPr>
            <a:r>
              <a:rPr lang="en-US" sz="1300" dirty="0">
                <a:solidFill>
                  <a:srgbClr val="1A5C2E"/>
                </a:solidFill>
                <a:latin typeface="Courier New" pitchFamily="34" charset="0"/>
                <a:ea typeface="Courier New" pitchFamily="34" charset="-122"/>
                <a:cs typeface="Courier New" pitchFamily="34" charset="-120"/>
              </a:rPr>
              <a:t>z    x</a:t>
            </a:r>
            <a:endParaRPr lang="en-US" sz="1300" dirty="0"/>
          </a:p>
        </p:txBody>
      </p:sp>
      <p:sp>
        <p:nvSpPr>
          <p:cNvPr id="22" name="Shape 20"/>
          <p:cNvSpPr/>
          <p:nvPr/>
        </p:nvSpPr>
        <p:spPr>
          <a:xfrm>
            <a:off x="228600" y="3063240"/>
            <a:ext cx="4251960" cy="1737360"/>
          </a:xfrm>
          <a:prstGeom prst="rect">
            <a:avLst/>
          </a:prstGeom>
          <a:solidFill>
            <a:srgbClr val="F5F5F5"/>
          </a:solidFill>
          <a:ln w="12700">
            <a:solidFill>
              <a:srgbClr val="000000"/>
            </a:solidFill>
            <a:prstDash val="solid"/>
          </a:ln>
        </p:spPr>
      </p:sp>
      <p:sp>
        <p:nvSpPr>
          <p:cNvPr id="23" name="Shape 21"/>
          <p:cNvSpPr/>
          <p:nvPr/>
        </p:nvSpPr>
        <p:spPr>
          <a:xfrm>
            <a:off x="228600" y="3063240"/>
            <a:ext cx="4251960" cy="365760"/>
          </a:xfrm>
          <a:prstGeom prst="rect">
            <a:avLst/>
          </a:prstGeom>
          <a:solidFill>
            <a:srgbClr val="1A5C2E"/>
          </a:solidFill>
          <a:ln w="12700">
            <a:solidFill>
              <a:srgbClr val="1A5C2E"/>
            </a:solidFill>
            <a:prstDash val="solid"/>
          </a:ln>
        </p:spPr>
      </p:sp>
      <p:sp>
        <p:nvSpPr>
          <p:cNvPr id="24" name="Text 22"/>
          <p:cNvSpPr/>
          <p:nvPr/>
        </p:nvSpPr>
        <p:spPr>
          <a:xfrm>
            <a:off x="228600" y="3063240"/>
            <a:ext cx="42519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LR  →  Left then Right</a:t>
            </a:r>
            <a:endParaRPr lang="en-US" sz="1300" dirty="0"/>
          </a:p>
        </p:txBody>
      </p:sp>
      <p:sp>
        <p:nvSpPr>
          <p:cNvPr id="25" name="Text 23"/>
          <p:cNvSpPr/>
          <p:nvPr/>
        </p:nvSpPr>
        <p:spPr>
          <a:xfrm>
            <a:off x="320040" y="3474720"/>
            <a:ext cx="1828800" cy="256032"/>
          </a:xfrm>
          <a:prstGeom prst="rect">
            <a:avLst/>
          </a:prstGeom>
          <a:noFill/>
          <a:ln/>
        </p:spPr>
        <p:txBody>
          <a:bodyPr wrap="square" rtlCol="0" anchor="ctr"/>
          <a:lstStyle/>
          <a:p>
            <a:pPr indent="0" marL="0">
              <a:buNone/>
            </a:pPr>
            <a:r>
              <a:rPr lang="en-US" sz="1100" b="1" dirty="0">
                <a:solidFill>
                  <a:srgbClr val="000000"/>
                </a:solidFill>
                <a:latin typeface="Arial" pitchFamily="34" charset="0"/>
                <a:ea typeface="Arial" pitchFamily="34" charset="-122"/>
                <a:cs typeface="Arial" pitchFamily="34" charset="-120"/>
              </a:rPr>
              <a:t>BEFORE:</a:t>
            </a:r>
            <a:endParaRPr lang="en-US" sz="1100" dirty="0"/>
          </a:p>
        </p:txBody>
      </p:sp>
      <p:sp>
        <p:nvSpPr>
          <p:cNvPr id="26" name="Text 24"/>
          <p:cNvSpPr/>
          <p:nvPr/>
        </p:nvSpPr>
        <p:spPr>
          <a:xfrm>
            <a:off x="320040" y="3703320"/>
            <a:ext cx="1828800" cy="914400"/>
          </a:xfrm>
          <a:prstGeom prst="rect">
            <a:avLst/>
          </a:prstGeom>
          <a:noFill/>
          <a:ln/>
        </p:spPr>
        <p:txBody>
          <a:bodyPr wrap="square" rtlCol="0" anchor="ctr"/>
          <a:lstStyle/>
          <a:p>
            <a:pPr indent="0" marL="0">
              <a:buNone/>
            </a:pPr>
            <a:r>
              <a:rPr lang="en-US" sz="1300" dirty="0">
                <a:solidFill>
                  <a:srgbClr val="1A5C2E"/>
                </a:solidFill>
                <a:latin typeface="Courier New" pitchFamily="34" charset="0"/>
                <a:ea typeface="Courier New" pitchFamily="34" charset="-122"/>
                <a:cs typeface="Courier New" pitchFamily="34" charset="-120"/>
              </a:rPr>
              <a:t>  z</a:t>
            </a:r>
            <a:endParaRPr lang="en-US" sz="1300" dirty="0"/>
          </a:p>
          <a:p>
            <a:pPr indent="0" marL="0">
              <a:buNone/>
            </a:pPr>
            <a:r>
              <a:rPr lang="en-US" sz="1300" dirty="0">
                <a:solidFill>
                  <a:srgbClr val="1A5C2E"/>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A5C2E"/>
                </a:solidFill>
                <a:latin typeface="Courier New" pitchFamily="34" charset="0"/>
                <a:ea typeface="Courier New" pitchFamily="34" charset="-122"/>
                <a:cs typeface="Courier New" pitchFamily="34" charset="-120"/>
              </a:rPr>
              <a:t>y</a:t>
            </a:r>
            <a:endParaRPr lang="en-US" sz="1300" dirty="0"/>
          </a:p>
          <a:p>
            <a:pPr indent="0" marL="0">
              <a:buNone/>
            </a:pPr>
            <a:r>
              <a:rPr lang="en-US" sz="1300" dirty="0">
                <a:solidFill>
                  <a:srgbClr val="1A5C2E"/>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A5C2E"/>
                </a:solidFill>
                <a:latin typeface="Courier New" pitchFamily="34" charset="0"/>
                <a:ea typeface="Courier New" pitchFamily="34" charset="-122"/>
                <a:cs typeface="Courier New" pitchFamily="34" charset="-120"/>
              </a:rPr>
              <a:t>  x</a:t>
            </a:r>
            <a:endParaRPr lang="en-US" sz="1300" dirty="0"/>
          </a:p>
        </p:txBody>
      </p:sp>
      <p:sp>
        <p:nvSpPr>
          <p:cNvPr id="27" name="Text 25"/>
          <p:cNvSpPr/>
          <p:nvPr/>
        </p:nvSpPr>
        <p:spPr>
          <a:xfrm>
            <a:off x="2331720" y="3474720"/>
            <a:ext cx="2011680" cy="256032"/>
          </a:xfrm>
          <a:prstGeom prst="rect">
            <a:avLst/>
          </a:prstGeom>
          <a:noFill/>
          <a:ln/>
        </p:spPr>
        <p:txBody>
          <a:bodyPr wrap="square" rtlCol="0" anchor="ctr"/>
          <a:lstStyle/>
          <a:p>
            <a:pPr indent="0" marL="0">
              <a:buNone/>
            </a:pPr>
            <a:r>
              <a:rPr lang="en-US" sz="1100" b="1" dirty="0">
                <a:solidFill>
                  <a:srgbClr val="000000"/>
                </a:solidFill>
                <a:latin typeface="Arial" pitchFamily="34" charset="0"/>
                <a:ea typeface="Arial" pitchFamily="34" charset="-122"/>
                <a:cs typeface="Arial" pitchFamily="34" charset="-120"/>
              </a:rPr>
              <a:t>AFTER:</a:t>
            </a:r>
            <a:endParaRPr lang="en-US" sz="1100" dirty="0"/>
          </a:p>
        </p:txBody>
      </p:sp>
      <p:sp>
        <p:nvSpPr>
          <p:cNvPr id="28" name="Text 26"/>
          <p:cNvSpPr/>
          <p:nvPr/>
        </p:nvSpPr>
        <p:spPr>
          <a:xfrm>
            <a:off x="2331720" y="3703320"/>
            <a:ext cx="2011680" cy="914400"/>
          </a:xfrm>
          <a:prstGeom prst="rect">
            <a:avLst/>
          </a:prstGeom>
          <a:noFill/>
          <a:ln/>
        </p:spPr>
        <p:txBody>
          <a:bodyPr wrap="square" rtlCol="0" anchor="ctr"/>
          <a:lstStyle/>
          <a:p>
            <a:pPr indent="0" marL="0">
              <a:buNone/>
            </a:pPr>
            <a:r>
              <a:rPr lang="en-US" sz="1300" dirty="0">
                <a:solidFill>
                  <a:srgbClr val="1A5C2E"/>
                </a:solidFill>
                <a:latin typeface="Courier New" pitchFamily="34" charset="0"/>
                <a:ea typeface="Courier New" pitchFamily="34" charset="-122"/>
                <a:cs typeface="Courier New" pitchFamily="34" charset="-120"/>
              </a:rPr>
              <a:t>  x</a:t>
            </a:r>
            <a:endParaRPr lang="en-US" sz="1300" dirty="0"/>
          </a:p>
          <a:p>
            <a:pPr indent="0" marL="0">
              <a:buNone/>
            </a:pPr>
            <a:r>
              <a:rPr lang="en-US" sz="1300" dirty="0">
                <a:solidFill>
                  <a:srgbClr val="1A5C2E"/>
                </a:solidFill>
                <a:latin typeface="Courier New" pitchFamily="34" charset="0"/>
                <a:ea typeface="Courier New" pitchFamily="34" charset="-122"/>
                <a:cs typeface="Courier New" pitchFamily="34" charset="-120"/>
              </a:rPr>
              <a:t> /  \</a:t>
            </a:r>
            <a:endParaRPr lang="en-US" sz="1300" dirty="0"/>
          </a:p>
          <a:p>
            <a:pPr indent="0" marL="0">
              <a:buNone/>
            </a:pPr>
            <a:r>
              <a:rPr lang="en-US" sz="1300" dirty="0">
                <a:solidFill>
                  <a:srgbClr val="1A5C2E"/>
                </a:solidFill>
                <a:latin typeface="Courier New" pitchFamily="34" charset="0"/>
                <a:ea typeface="Courier New" pitchFamily="34" charset="-122"/>
                <a:cs typeface="Courier New" pitchFamily="34" charset="-120"/>
              </a:rPr>
              <a:t>y    z</a:t>
            </a:r>
            <a:endParaRPr lang="en-US" sz="1300" dirty="0"/>
          </a:p>
        </p:txBody>
      </p:sp>
      <p:sp>
        <p:nvSpPr>
          <p:cNvPr id="29" name="Shape 27"/>
          <p:cNvSpPr/>
          <p:nvPr/>
        </p:nvSpPr>
        <p:spPr>
          <a:xfrm>
            <a:off x="4709160" y="3063240"/>
            <a:ext cx="4251960" cy="1737360"/>
          </a:xfrm>
          <a:prstGeom prst="rect">
            <a:avLst/>
          </a:prstGeom>
          <a:solidFill>
            <a:srgbClr val="F5F5F5"/>
          </a:solidFill>
          <a:ln w="12700">
            <a:solidFill>
              <a:srgbClr val="000000"/>
            </a:solidFill>
            <a:prstDash val="solid"/>
          </a:ln>
        </p:spPr>
      </p:sp>
      <p:sp>
        <p:nvSpPr>
          <p:cNvPr id="30" name="Shape 28"/>
          <p:cNvSpPr/>
          <p:nvPr/>
        </p:nvSpPr>
        <p:spPr>
          <a:xfrm>
            <a:off x="4709160" y="3063240"/>
            <a:ext cx="4251960" cy="365760"/>
          </a:xfrm>
          <a:prstGeom prst="rect">
            <a:avLst/>
          </a:prstGeom>
          <a:solidFill>
            <a:srgbClr val="553300"/>
          </a:solidFill>
          <a:ln w="12700">
            <a:solidFill>
              <a:srgbClr val="553300"/>
            </a:solidFill>
            <a:prstDash val="solid"/>
          </a:ln>
        </p:spPr>
      </p:sp>
      <p:sp>
        <p:nvSpPr>
          <p:cNvPr id="31" name="Text 29"/>
          <p:cNvSpPr/>
          <p:nvPr/>
        </p:nvSpPr>
        <p:spPr>
          <a:xfrm>
            <a:off x="4709160" y="3063240"/>
            <a:ext cx="42519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RL  →  Right then Left</a:t>
            </a:r>
            <a:endParaRPr lang="en-US" sz="1300" dirty="0"/>
          </a:p>
        </p:txBody>
      </p:sp>
      <p:sp>
        <p:nvSpPr>
          <p:cNvPr id="32" name="Text 30"/>
          <p:cNvSpPr/>
          <p:nvPr/>
        </p:nvSpPr>
        <p:spPr>
          <a:xfrm>
            <a:off x="4800600" y="3474720"/>
            <a:ext cx="1828800" cy="256032"/>
          </a:xfrm>
          <a:prstGeom prst="rect">
            <a:avLst/>
          </a:prstGeom>
          <a:noFill/>
          <a:ln/>
        </p:spPr>
        <p:txBody>
          <a:bodyPr wrap="square" rtlCol="0" anchor="ctr"/>
          <a:lstStyle/>
          <a:p>
            <a:pPr indent="0" marL="0">
              <a:buNone/>
            </a:pPr>
            <a:r>
              <a:rPr lang="en-US" sz="1100" b="1" dirty="0">
                <a:solidFill>
                  <a:srgbClr val="000000"/>
                </a:solidFill>
                <a:latin typeface="Arial" pitchFamily="34" charset="0"/>
                <a:ea typeface="Arial" pitchFamily="34" charset="-122"/>
                <a:cs typeface="Arial" pitchFamily="34" charset="-120"/>
              </a:rPr>
              <a:t>BEFORE:</a:t>
            </a:r>
            <a:endParaRPr lang="en-US" sz="1100" dirty="0"/>
          </a:p>
        </p:txBody>
      </p:sp>
      <p:sp>
        <p:nvSpPr>
          <p:cNvPr id="33" name="Text 31"/>
          <p:cNvSpPr/>
          <p:nvPr/>
        </p:nvSpPr>
        <p:spPr>
          <a:xfrm>
            <a:off x="4800600" y="3703320"/>
            <a:ext cx="1828800" cy="914400"/>
          </a:xfrm>
          <a:prstGeom prst="rect">
            <a:avLst/>
          </a:prstGeom>
          <a:noFill/>
          <a:ln/>
        </p:spPr>
        <p:txBody>
          <a:bodyPr wrap="square" rtlCol="0" anchor="ctr"/>
          <a:lstStyle/>
          <a:p>
            <a:pPr indent="0" marL="0">
              <a:buNone/>
            </a:pPr>
            <a:r>
              <a:rPr lang="en-US" sz="1300" dirty="0">
                <a:solidFill>
                  <a:srgbClr val="553300"/>
                </a:solidFill>
                <a:latin typeface="Courier New" pitchFamily="34" charset="0"/>
                <a:ea typeface="Courier New" pitchFamily="34" charset="-122"/>
                <a:cs typeface="Courier New" pitchFamily="34" charset="-120"/>
              </a:rPr>
              <a:t>z</a:t>
            </a:r>
            <a:endParaRPr lang="en-US" sz="1300" dirty="0"/>
          </a:p>
          <a:p>
            <a:pPr indent="0" marL="0">
              <a:buNone/>
            </a:pPr>
            <a:r>
              <a:rPr lang="en-US" sz="1300" dirty="0">
                <a:solidFill>
                  <a:srgbClr val="5533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553300"/>
                </a:solidFill>
                <a:latin typeface="Courier New" pitchFamily="34" charset="0"/>
                <a:ea typeface="Courier New" pitchFamily="34" charset="-122"/>
                <a:cs typeface="Courier New" pitchFamily="34" charset="-120"/>
              </a:rPr>
              <a:t>  y</a:t>
            </a:r>
            <a:endParaRPr lang="en-US" sz="1300" dirty="0"/>
          </a:p>
          <a:p>
            <a:pPr indent="0" marL="0">
              <a:buNone/>
            </a:pPr>
            <a:r>
              <a:rPr lang="en-US" sz="1300" dirty="0">
                <a:solidFill>
                  <a:srgbClr val="55330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553300"/>
                </a:solidFill>
                <a:latin typeface="Courier New" pitchFamily="34" charset="0"/>
                <a:ea typeface="Courier New" pitchFamily="34" charset="-122"/>
                <a:cs typeface="Courier New" pitchFamily="34" charset="-120"/>
              </a:rPr>
              <a:t>x</a:t>
            </a:r>
            <a:endParaRPr lang="en-US" sz="1300" dirty="0"/>
          </a:p>
        </p:txBody>
      </p:sp>
      <p:sp>
        <p:nvSpPr>
          <p:cNvPr id="34" name="Text 32"/>
          <p:cNvSpPr/>
          <p:nvPr/>
        </p:nvSpPr>
        <p:spPr>
          <a:xfrm>
            <a:off x="6812280" y="3474720"/>
            <a:ext cx="2011680" cy="256032"/>
          </a:xfrm>
          <a:prstGeom prst="rect">
            <a:avLst/>
          </a:prstGeom>
          <a:noFill/>
          <a:ln/>
        </p:spPr>
        <p:txBody>
          <a:bodyPr wrap="square" rtlCol="0" anchor="ctr"/>
          <a:lstStyle/>
          <a:p>
            <a:pPr indent="0" marL="0">
              <a:buNone/>
            </a:pPr>
            <a:r>
              <a:rPr lang="en-US" sz="1100" b="1" dirty="0">
                <a:solidFill>
                  <a:srgbClr val="000000"/>
                </a:solidFill>
                <a:latin typeface="Arial" pitchFamily="34" charset="0"/>
                <a:ea typeface="Arial" pitchFamily="34" charset="-122"/>
                <a:cs typeface="Arial" pitchFamily="34" charset="-120"/>
              </a:rPr>
              <a:t>AFTER:</a:t>
            </a:r>
            <a:endParaRPr lang="en-US" sz="1100" dirty="0"/>
          </a:p>
        </p:txBody>
      </p:sp>
      <p:sp>
        <p:nvSpPr>
          <p:cNvPr id="35" name="Text 33"/>
          <p:cNvSpPr/>
          <p:nvPr/>
        </p:nvSpPr>
        <p:spPr>
          <a:xfrm>
            <a:off x="6812280" y="3703320"/>
            <a:ext cx="2011680" cy="914400"/>
          </a:xfrm>
          <a:prstGeom prst="rect">
            <a:avLst/>
          </a:prstGeom>
          <a:noFill/>
          <a:ln/>
        </p:spPr>
        <p:txBody>
          <a:bodyPr wrap="square" rtlCol="0" anchor="ctr"/>
          <a:lstStyle/>
          <a:p>
            <a:pPr indent="0" marL="0">
              <a:buNone/>
            </a:pPr>
            <a:r>
              <a:rPr lang="en-US" sz="1300" dirty="0">
                <a:solidFill>
                  <a:srgbClr val="1A5C2E"/>
                </a:solidFill>
                <a:latin typeface="Courier New" pitchFamily="34" charset="0"/>
                <a:ea typeface="Courier New" pitchFamily="34" charset="-122"/>
                <a:cs typeface="Courier New" pitchFamily="34" charset="-120"/>
              </a:rPr>
              <a:t>  x</a:t>
            </a:r>
            <a:endParaRPr lang="en-US" sz="1300" dirty="0"/>
          </a:p>
          <a:p>
            <a:pPr indent="0" marL="0">
              <a:buNone/>
            </a:pPr>
            <a:r>
              <a:rPr lang="en-US" sz="1300" dirty="0">
                <a:solidFill>
                  <a:srgbClr val="1A5C2E"/>
                </a:solidFill>
                <a:latin typeface="Courier New" pitchFamily="34" charset="0"/>
                <a:ea typeface="Courier New" pitchFamily="34" charset="-122"/>
                <a:cs typeface="Courier New" pitchFamily="34" charset="-120"/>
              </a:rPr>
              <a:t> /  \</a:t>
            </a:r>
            <a:endParaRPr lang="en-US" sz="1300" dirty="0"/>
          </a:p>
          <a:p>
            <a:pPr indent="0" marL="0">
              <a:buNone/>
            </a:pPr>
            <a:r>
              <a:rPr lang="en-US" sz="1300" dirty="0">
                <a:solidFill>
                  <a:srgbClr val="1A5C2E"/>
                </a:solidFill>
                <a:latin typeface="Courier New" pitchFamily="34" charset="0"/>
                <a:ea typeface="Courier New" pitchFamily="34" charset="-122"/>
                <a:cs typeface="Courier New" pitchFamily="34" charset="-120"/>
              </a:rPr>
              <a:t>z    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65D"/>
          </a:solidFill>
          <a:ln w="12700">
            <a:solidFill>
              <a:srgbClr val="1A365D"/>
            </a:solidFill>
            <a:prstDash val="solid"/>
          </a:ln>
        </p:spPr>
      </p:sp>
      <p:sp>
        <p:nvSpPr>
          <p:cNvPr id="3" name="Text 1"/>
          <p:cNvSpPr/>
          <p:nvPr/>
        </p:nvSpPr>
        <p:spPr>
          <a:xfrm>
            <a:off x="228600" y="91440"/>
            <a:ext cx="86868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Key Code Highlights</a:t>
            </a:r>
            <a:endParaRPr lang="en-US" sz="2800" dirty="0"/>
          </a:p>
        </p:txBody>
      </p:sp>
      <p:sp>
        <p:nvSpPr>
          <p:cNvPr id="4" name="Shape 2"/>
          <p:cNvSpPr/>
          <p:nvPr/>
        </p:nvSpPr>
        <p:spPr>
          <a:xfrm>
            <a:off x="0" y="685800"/>
            <a:ext cx="9144000" cy="54864"/>
          </a:xfrm>
          <a:prstGeom prst="rect">
            <a:avLst/>
          </a:prstGeom>
          <a:solidFill>
            <a:srgbClr val="000000"/>
          </a:solidFill>
          <a:ln w="12700">
            <a:solidFill>
              <a:srgbClr val="000000"/>
            </a:solidFill>
            <a:prstDash val="solid"/>
          </a:ln>
        </p:spPr>
      </p:sp>
      <p:sp>
        <p:nvSpPr>
          <p:cNvPr id="5" name="Shape 3"/>
          <p:cNvSpPr/>
          <p:nvPr/>
        </p:nvSpPr>
        <p:spPr>
          <a:xfrm>
            <a:off x="0" y="4937760"/>
            <a:ext cx="9144000" cy="210312"/>
          </a:xfrm>
          <a:prstGeom prst="rect">
            <a:avLst/>
          </a:prstGeom>
          <a:solidFill>
            <a:srgbClr val="1A365D"/>
          </a:solidFill>
          <a:ln w="12700">
            <a:solidFill>
              <a:srgbClr val="1A365D"/>
            </a:solidFill>
            <a:prstDash val="solid"/>
          </a:ln>
        </p:spPr>
      </p:sp>
      <p:sp>
        <p:nvSpPr>
          <p:cNvPr id="6" name="Text 4"/>
          <p:cNvSpPr/>
          <p:nvPr/>
        </p:nvSpPr>
        <p:spPr>
          <a:xfrm>
            <a:off x="182880" y="4956048"/>
            <a:ext cx="8778240" cy="173736"/>
          </a:xfrm>
          <a:prstGeom prst="rect">
            <a:avLst/>
          </a:prstGeom>
          <a:noFill/>
          <a:ln/>
        </p:spPr>
        <p:txBody>
          <a:bodyPr wrap="square" lIns="0" tIns="0" rIns="0" bIns="0" rtlCol="0" anchor="ctr"/>
          <a:lstStyle/>
          <a:p>
            <a:pPr indent="0" marL="0">
              <a:buNone/>
            </a:pPr>
            <a:r>
              <a:rPr lang="en-US" sz="900" dirty="0">
                <a:solidFill>
                  <a:srgbClr val="CCDDEE"/>
                </a:solidFill>
                <a:latin typeface="Arial" pitchFamily="34" charset="0"/>
                <a:ea typeface="Arial" pitchFamily="34" charset="-122"/>
                <a:cs typeface="Arial" pitchFamily="34" charset="-120"/>
              </a:rPr>
              <a:t>UET Lahore  |  CMPE 212  |  Hospital Patient Management System  |  Session 2024-2025</a:t>
            </a:r>
            <a:endParaRPr lang="en-US" sz="900" dirty="0"/>
          </a:p>
        </p:txBody>
      </p:sp>
      <p:sp>
        <p:nvSpPr>
          <p:cNvPr id="7" name="Text 5"/>
          <p:cNvSpPr/>
          <p:nvPr/>
        </p:nvSpPr>
        <p:spPr>
          <a:xfrm>
            <a:off x="274320" y="804672"/>
            <a:ext cx="4206240" cy="320040"/>
          </a:xfrm>
          <a:prstGeom prst="rect">
            <a:avLst/>
          </a:prstGeom>
          <a:noFill/>
          <a:ln/>
        </p:spPr>
        <p:txBody>
          <a:bodyPr wrap="square" rtlCol="0" anchor="ctr"/>
          <a:lstStyle/>
          <a:p>
            <a:pPr indent="0" marL="0">
              <a:buNone/>
            </a:pPr>
            <a:r>
              <a:rPr lang="en-US" sz="1400" b="1" dirty="0">
                <a:solidFill>
                  <a:srgbClr val="1A365D"/>
                </a:solidFill>
                <a:latin typeface="Arial" pitchFamily="34" charset="0"/>
                <a:ea typeface="Arial" pitchFamily="34" charset="-122"/>
                <a:cs typeface="Arial" pitchFamily="34" charset="-120"/>
              </a:rPr>
              <a:t>Patient Routing  (main.cpp)</a:t>
            </a:r>
            <a:endParaRPr lang="en-US" sz="1400" dirty="0"/>
          </a:p>
        </p:txBody>
      </p:sp>
      <p:sp>
        <p:nvSpPr>
          <p:cNvPr id="8" name="Shape 6"/>
          <p:cNvSpPr/>
          <p:nvPr/>
        </p:nvSpPr>
        <p:spPr>
          <a:xfrm>
            <a:off x="274320" y="1143000"/>
            <a:ext cx="4206240" cy="1417320"/>
          </a:xfrm>
          <a:prstGeom prst="rect">
            <a:avLst/>
          </a:prstGeom>
          <a:solidFill>
            <a:srgbClr val="EEEEEE"/>
          </a:solidFill>
          <a:ln w="12700">
            <a:solidFill>
              <a:srgbClr val="000000"/>
            </a:solidFill>
            <a:prstDash val="solid"/>
          </a:ln>
        </p:spPr>
      </p:sp>
      <p:sp>
        <p:nvSpPr>
          <p:cNvPr id="9" name="Text 7"/>
          <p:cNvSpPr/>
          <p:nvPr/>
        </p:nvSpPr>
        <p:spPr>
          <a:xfrm>
            <a:off x="347472" y="1197864"/>
            <a:ext cx="4059936" cy="1307592"/>
          </a:xfrm>
          <a:prstGeom prst="rect">
            <a:avLst/>
          </a:prstGeom>
          <a:noFill/>
          <a:ln/>
        </p:spPr>
        <p:txBody>
          <a:bodyPr wrap="square" rtlCol="0" anchor="t"/>
          <a:lstStyle/>
          <a:p>
            <a:pPr indent="0" marL="0">
              <a:buNone/>
            </a:pPr>
            <a:r>
              <a:rPr lang="en-US" sz="1200" dirty="0">
                <a:solidFill>
                  <a:srgbClr val="000000"/>
                </a:solidFill>
                <a:latin typeface="Courier New" pitchFamily="34" charset="0"/>
                <a:ea typeface="Courier New" pitchFamily="34" charset="-122"/>
                <a:cs typeface="Courier New" pitchFamily="34" charset="-120"/>
              </a:rPr>
              <a:t>if (p.priority == NORMAL)</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normalTree.insert(p);</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else</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emergencyTree.insert(p);</a:t>
            </a:r>
            <a:endParaRPr lang="en-US" sz="1200" dirty="0"/>
          </a:p>
        </p:txBody>
      </p:sp>
      <p:sp>
        <p:nvSpPr>
          <p:cNvPr id="10" name="Text 8"/>
          <p:cNvSpPr/>
          <p:nvPr/>
        </p:nvSpPr>
        <p:spPr>
          <a:xfrm>
            <a:off x="4663440" y="804672"/>
            <a:ext cx="4206240" cy="320040"/>
          </a:xfrm>
          <a:prstGeom prst="rect">
            <a:avLst/>
          </a:prstGeom>
          <a:noFill/>
          <a:ln/>
        </p:spPr>
        <p:txBody>
          <a:bodyPr wrap="square" rtlCol="0" anchor="ctr"/>
          <a:lstStyle/>
          <a:p>
            <a:pPr indent="0" marL="0">
              <a:buNone/>
            </a:pPr>
            <a:r>
              <a:rPr lang="en-US" sz="1400" b="1" dirty="0">
                <a:solidFill>
                  <a:srgbClr val="8B0000"/>
                </a:solidFill>
                <a:latin typeface="Arial" pitchFamily="34" charset="0"/>
                <a:ea typeface="Arial" pitchFamily="34" charset="-122"/>
                <a:cs typeface="Arial" pitchFamily="34" charset="-120"/>
              </a:rPr>
              <a:t>AVL Composite Key  (AVL.h)</a:t>
            </a:r>
            <a:endParaRPr lang="en-US" sz="1400" dirty="0"/>
          </a:p>
        </p:txBody>
      </p:sp>
      <p:sp>
        <p:nvSpPr>
          <p:cNvPr id="11" name="Shape 9"/>
          <p:cNvSpPr/>
          <p:nvPr/>
        </p:nvSpPr>
        <p:spPr>
          <a:xfrm>
            <a:off x="4663440" y="1143000"/>
            <a:ext cx="4206240" cy="1417320"/>
          </a:xfrm>
          <a:prstGeom prst="rect">
            <a:avLst/>
          </a:prstGeom>
          <a:solidFill>
            <a:srgbClr val="EEEEEE"/>
          </a:solidFill>
          <a:ln w="12700">
            <a:solidFill>
              <a:srgbClr val="000000"/>
            </a:solidFill>
            <a:prstDash val="solid"/>
          </a:ln>
        </p:spPr>
      </p:sp>
      <p:sp>
        <p:nvSpPr>
          <p:cNvPr id="12" name="Text 10"/>
          <p:cNvSpPr/>
          <p:nvPr/>
        </p:nvSpPr>
        <p:spPr>
          <a:xfrm>
            <a:off x="4736592" y="1197864"/>
            <a:ext cx="4059936" cy="1307592"/>
          </a:xfrm>
          <a:prstGeom prst="rect">
            <a:avLst/>
          </a:prstGeom>
          <a:noFill/>
          <a:ln/>
        </p:spPr>
        <p:txBody>
          <a:bodyPr wrap="square" rtlCol="0" anchor="t"/>
          <a:lstStyle/>
          <a:p>
            <a:pPr indent="0" marL="0">
              <a:buNone/>
            </a:pPr>
            <a:r>
              <a:rPr lang="en-US" sz="1200" dirty="0">
                <a:solidFill>
                  <a:srgbClr val="000000"/>
                </a:solidFill>
                <a:latin typeface="Courier New" pitchFamily="34" charset="0"/>
                <a:ea typeface="Courier New" pitchFamily="34" charset="-122"/>
                <a:cs typeface="Courier New" pitchFamily="34" charset="-120"/>
              </a:rPr>
              <a:t>// primary key  = priority</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secondary key = id</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if (a.priority != b.priority)</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return a.priority &lt; b.priority;</a:t>
            </a:r>
            <a:endParaRPr lang="en-US" sz="1200" dirty="0"/>
          </a:p>
        </p:txBody>
      </p:sp>
      <p:sp>
        <p:nvSpPr>
          <p:cNvPr id="13" name="Text 11"/>
          <p:cNvSpPr/>
          <p:nvPr/>
        </p:nvSpPr>
        <p:spPr>
          <a:xfrm>
            <a:off x="274320" y="2651760"/>
            <a:ext cx="8595360" cy="320040"/>
          </a:xfrm>
          <a:prstGeom prst="rect">
            <a:avLst/>
          </a:prstGeom>
          <a:noFill/>
          <a:ln/>
        </p:spPr>
        <p:txBody>
          <a:bodyPr wrap="square" rtlCol="0" anchor="ctr"/>
          <a:lstStyle/>
          <a:p>
            <a:pPr indent="0" marL="0">
              <a:buNone/>
            </a:pPr>
            <a:r>
              <a:rPr lang="en-US" sz="1400" b="1" dirty="0">
                <a:solidFill>
                  <a:srgbClr val="1A5C2E"/>
                </a:solidFill>
                <a:latin typeface="Arial" pitchFamily="34" charset="0"/>
                <a:ea typeface="Arial" pitchFamily="34" charset="-122"/>
                <a:cs typeface="Arial" pitchFamily="34" charset="-120"/>
              </a:rPr>
              <a:t>AVL Deletion Bug Fix  (AVL.cpp)</a:t>
            </a:r>
            <a:endParaRPr lang="en-US" sz="1400" dirty="0"/>
          </a:p>
        </p:txBody>
      </p:sp>
      <p:sp>
        <p:nvSpPr>
          <p:cNvPr id="14" name="Shape 12"/>
          <p:cNvSpPr/>
          <p:nvPr/>
        </p:nvSpPr>
        <p:spPr>
          <a:xfrm>
            <a:off x="274320" y="2999232"/>
            <a:ext cx="4114800" cy="1737360"/>
          </a:xfrm>
          <a:prstGeom prst="rect">
            <a:avLst/>
          </a:prstGeom>
          <a:solidFill>
            <a:srgbClr val="EEEEEE"/>
          </a:solidFill>
          <a:ln w="12700">
            <a:solidFill>
              <a:srgbClr val="000000"/>
            </a:solidFill>
            <a:prstDash val="solid"/>
          </a:ln>
        </p:spPr>
      </p:sp>
      <p:sp>
        <p:nvSpPr>
          <p:cNvPr id="15" name="Text 13"/>
          <p:cNvSpPr/>
          <p:nvPr/>
        </p:nvSpPr>
        <p:spPr>
          <a:xfrm>
            <a:off x="347472" y="3054096"/>
            <a:ext cx="3968496" cy="1627632"/>
          </a:xfrm>
          <a:prstGeom prst="rect">
            <a:avLst/>
          </a:prstGeom>
          <a:noFill/>
          <a:ln/>
        </p:spPr>
        <p:txBody>
          <a:bodyPr wrap="square" rtlCol="0" anchor="t"/>
          <a:lstStyle/>
          <a:p>
            <a:pPr indent="0" marL="0">
              <a:buNone/>
            </a:pPr>
            <a:r>
              <a:rPr lang="en-US" sz="1200" dirty="0">
                <a:solidFill>
                  <a:srgbClr val="000000"/>
                </a:solidFill>
                <a:latin typeface="Courier New" pitchFamily="34" charset="0"/>
                <a:ea typeface="Courier New" pitchFamily="34" charset="-122"/>
                <a:cs typeface="Courier New" pitchFamily="34" charset="-120"/>
              </a:rPr>
              <a:t>// WRONG — copies pointers:</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*node = *temp;</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delete temp;</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 causes double-free!</a:t>
            </a:r>
            <a:endParaRPr lang="en-US" sz="1200" dirty="0"/>
          </a:p>
        </p:txBody>
      </p:sp>
      <p:sp>
        <p:nvSpPr>
          <p:cNvPr id="16" name="Text 14"/>
          <p:cNvSpPr/>
          <p:nvPr/>
        </p:nvSpPr>
        <p:spPr>
          <a:xfrm>
            <a:off x="4462272" y="3566160"/>
            <a:ext cx="411480" cy="457200"/>
          </a:xfrm>
          <a:prstGeom prst="rect">
            <a:avLst/>
          </a:prstGeom>
          <a:noFill/>
          <a:ln/>
        </p:spPr>
        <p:txBody>
          <a:bodyPr wrap="square" rtlCol="0" anchor="ctr"/>
          <a:lstStyle/>
          <a:p>
            <a:pPr algn="ctr" indent="0" marL="0">
              <a:buNone/>
            </a:pPr>
            <a:r>
              <a:rPr lang="en-US" sz="2400" b="1" dirty="0">
                <a:solidFill>
                  <a:srgbClr val="1A365D"/>
                </a:solidFill>
                <a:latin typeface="Arial" pitchFamily="34" charset="0"/>
                <a:ea typeface="Arial" pitchFamily="34" charset="-122"/>
                <a:cs typeface="Arial" pitchFamily="34" charset="-120"/>
              </a:rPr>
              <a:t>→</a:t>
            </a:r>
            <a:endParaRPr lang="en-US" sz="2400" dirty="0"/>
          </a:p>
        </p:txBody>
      </p:sp>
      <p:sp>
        <p:nvSpPr>
          <p:cNvPr id="17" name="Shape 15"/>
          <p:cNvSpPr/>
          <p:nvPr/>
        </p:nvSpPr>
        <p:spPr>
          <a:xfrm>
            <a:off x="4892040" y="2999232"/>
            <a:ext cx="3977640" cy="1737360"/>
          </a:xfrm>
          <a:prstGeom prst="rect">
            <a:avLst/>
          </a:prstGeom>
          <a:solidFill>
            <a:srgbClr val="EEEEEE"/>
          </a:solidFill>
          <a:ln w="12700">
            <a:solidFill>
              <a:srgbClr val="000000"/>
            </a:solidFill>
            <a:prstDash val="solid"/>
          </a:ln>
        </p:spPr>
      </p:sp>
      <p:sp>
        <p:nvSpPr>
          <p:cNvPr id="18" name="Text 16"/>
          <p:cNvSpPr/>
          <p:nvPr/>
        </p:nvSpPr>
        <p:spPr>
          <a:xfrm>
            <a:off x="4965192" y="3054096"/>
            <a:ext cx="3831336" cy="1627632"/>
          </a:xfrm>
          <a:prstGeom prst="rect">
            <a:avLst/>
          </a:prstGeom>
          <a:noFill/>
          <a:ln/>
        </p:spPr>
        <p:txBody>
          <a:bodyPr wrap="square" rtlCol="0" anchor="t"/>
          <a:lstStyle/>
          <a:p>
            <a:pPr indent="0" marL="0">
              <a:buNone/>
            </a:pPr>
            <a:r>
              <a:rPr lang="en-US" sz="1200" dirty="0">
                <a:solidFill>
                  <a:srgbClr val="000000"/>
                </a:solidFill>
                <a:latin typeface="Courier New" pitchFamily="34" charset="0"/>
                <a:ea typeface="Courier New" pitchFamily="34" charset="-122"/>
                <a:cs typeface="Courier New" pitchFamily="34" charset="-120"/>
              </a:rPr>
              <a:t>// CORRECT — data only:</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node-&gt;data   = temp-&gt;data;</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node-&gt;left   = temp-&gt;left;</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node-&gt;right  = temp-&gt;right;</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delete temp; // safe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65D"/>
          </a:solidFill>
          <a:ln w="12700">
            <a:solidFill>
              <a:srgbClr val="1A365D"/>
            </a:solidFill>
            <a:prstDash val="solid"/>
          </a:ln>
        </p:spPr>
      </p:sp>
      <p:sp>
        <p:nvSpPr>
          <p:cNvPr id="3" name="Text 1"/>
          <p:cNvSpPr/>
          <p:nvPr/>
        </p:nvSpPr>
        <p:spPr>
          <a:xfrm>
            <a:off x="228600" y="91440"/>
            <a:ext cx="86868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Demo — Console Output</a:t>
            </a:r>
            <a:endParaRPr lang="en-US" sz="2800" dirty="0"/>
          </a:p>
        </p:txBody>
      </p:sp>
      <p:sp>
        <p:nvSpPr>
          <p:cNvPr id="4" name="Shape 2"/>
          <p:cNvSpPr/>
          <p:nvPr/>
        </p:nvSpPr>
        <p:spPr>
          <a:xfrm>
            <a:off x="0" y="685800"/>
            <a:ext cx="9144000" cy="54864"/>
          </a:xfrm>
          <a:prstGeom prst="rect">
            <a:avLst/>
          </a:prstGeom>
          <a:solidFill>
            <a:srgbClr val="000000"/>
          </a:solidFill>
          <a:ln w="12700">
            <a:solidFill>
              <a:srgbClr val="000000"/>
            </a:solidFill>
            <a:prstDash val="solid"/>
          </a:ln>
        </p:spPr>
      </p:sp>
      <p:sp>
        <p:nvSpPr>
          <p:cNvPr id="5" name="Shape 3"/>
          <p:cNvSpPr/>
          <p:nvPr/>
        </p:nvSpPr>
        <p:spPr>
          <a:xfrm>
            <a:off x="0" y="4937760"/>
            <a:ext cx="9144000" cy="210312"/>
          </a:xfrm>
          <a:prstGeom prst="rect">
            <a:avLst/>
          </a:prstGeom>
          <a:solidFill>
            <a:srgbClr val="1A365D"/>
          </a:solidFill>
          <a:ln w="12700">
            <a:solidFill>
              <a:srgbClr val="1A365D"/>
            </a:solidFill>
            <a:prstDash val="solid"/>
          </a:ln>
        </p:spPr>
      </p:sp>
      <p:sp>
        <p:nvSpPr>
          <p:cNvPr id="6" name="Text 4"/>
          <p:cNvSpPr/>
          <p:nvPr/>
        </p:nvSpPr>
        <p:spPr>
          <a:xfrm>
            <a:off x="182880" y="4956048"/>
            <a:ext cx="8778240" cy="173736"/>
          </a:xfrm>
          <a:prstGeom prst="rect">
            <a:avLst/>
          </a:prstGeom>
          <a:noFill/>
          <a:ln/>
        </p:spPr>
        <p:txBody>
          <a:bodyPr wrap="square" lIns="0" tIns="0" rIns="0" bIns="0" rtlCol="0" anchor="ctr"/>
          <a:lstStyle/>
          <a:p>
            <a:pPr indent="0" marL="0">
              <a:buNone/>
            </a:pPr>
            <a:r>
              <a:rPr lang="en-US" sz="900" dirty="0">
                <a:solidFill>
                  <a:srgbClr val="CCDDEE"/>
                </a:solidFill>
                <a:latin typeface="Arial" pitchFamily="34" charset="0"/>
                <a:ea typeface="Arial" pitchFamily="34" charset="-122"/>
                <a:cs typeface="Arial" pitchFamily="34" charset="-120"/>
              </a:rPr>
              <a:t>UET Lahore  |  CMPE 212  |  Hospital Patient Management System  |  Session 2024-2025</a:t>
            </a:r>
            <a:endParaRPr lang="en-US" sz="900" dirty="0"/>
          </a:p>
        </p:txBody>
      </p:sp>
      <p:sp>
        <p:nvSpPr>
          <p:cNvPr id="7" name="Text 5"/>
          <p:cNvSpPr/>
          <p:nvPr/>
        </p:nvSpPr>
        <p:spPr>
          <a:xfrm>
            <a:off x="274320" y="777240"/>
            <a:ext cx="8595360" cy="320040"/>
          </a:xfrm>
          <a:prstGeom prst="rect">
            <a:avLst/>
          </a:prstGeom>
          <a:noFill/>
          <a:ln/>
        </p:spPr>
        <p:txBody>
          <a:bodyPr wrap="square" rtlCol="0" anchor="ctr"/>
          <a:lstStyle/>
          <a:p>
            <a:pPr indent="0" marL="0">
              <a:buNone/>
            </a:pPr>
            <a:r>
              <a:rPr lang="en-US" sz="1500" b="1" dirty="0">
                <a:solidFill>
                  <a:srgbClr val="1A365D"/>
                </a:solidFill>
                <a:latin typeface="Arial" pitchFamily="34" charset="0"/>
                <a:ea typeface="Arial" pitchFamily="34" charset="-122"/>
                <a:cs typeface="Arial" pitchFamily="34" charset="-120"/>
              </a:rPr>
              <a:t>After loading sample data (5 normal, 6 emergency/urgent):</a:t>
            </a:r>
            <a:endParaRPr lang="en-US" sz="1500" dirty="0"/>
          </a:p>
        </p:txBody>
      </p:sp>
      <p:sp>
        <p:nvSpPr>
          <p:cNvPr id="8" name="Text 6"/>
          <p:cNvSpPr/>
          <p:nvPr/>
        </p:nvSpPr>
        <p:spPr>
          <a:xfrm>
            <a:off x="274320" y="1170432"/>
            <a:ext cx="8595360" cy="274320"/>
          </a:xfrm>
          <a:prstGeom prst="rect">
            <a:avLst/>
          </a:prstGeom>
          <a:noFill/>
          <a:ln/>
        </p:spPr>
        <p:txBody>
          <a:bodyPr wrap="square" rtlCol="0" anchor="ctr"/>
          <a:lstStyle/>
          <a:p>
            <a:pPr indent="0" marL="0">
              <a:buNone/>
            </a:pPr>
            <a:r>
              <a:rPr lang="en-US" sz="1300" b="1" dirty="0">
                <a:solidFill>
                  <a:srgbClr val="1A365D"/>
                </a:solidFill>
                <a:latin typeface="Arial" pitchFamily="34" charset="0"/>
                <a:ea typeface="Arial" pitchFamily="34" charset="-122"/>
                <a:cs typeface="Arial" pitchFamily="34" charset="-120"/>
              </a:rPr>
              <a:t>BST Inorder  —  Normal patients sorted by ID:</a:t>
            </a:r>
            <a:endParaRPr lang="en-US" sz="1300" dirty="0"/>
          </a:p>
        </p:txBody>
      </p:sp>
      <p:sp>
        <p:nvSpPr>
          <p:cNvPr id="9" name="Shape 7"/>
          <p:cNvSpPr/>
          <p:nvPr/>
        </p:nvSpPr>
        <p:spPr>
          <a:xfrm>
            <a:off x="274320" y="1463040"/>
            <a:ext cx="8595360" cy="658368"/>
          </a:xfrm>
          <a:prstGeom prst="rect">
            <a:avLst/>
          </a:prstGeom>
          <a:solidFill>
            <a:srgbClr val="EEEEEE"/>
          </a:solidFill>
          <a:ln w="12700">
            <a:solidFill>
              <a:srgbClr val="000000"/>
            </a:solidFill>
            <a:prstDash val="solid"/>
          </a:ln>
        </p:spPr>
      </p:sp>
      <p:sp>
        <p:nvSpPr>
          <p:cNvPr id="10" name="Text 8"/>
          <p:cNvSpPr/>
          <p:nvPr/>
        </p:nvSpPr>
        <p:spPr>
          <a:xfrm>
            <a:off x="347472" y="1517904"/>
            <a:ext cx="8449056" cy="548640"/>
          </a:xfrm>
          <a:prstGeom prst="rect">
            <a:avLst/>
          </a:prstGeom>
          <a:noFill/>
          <a:ln/>
        </p:spPr>
        <p:txBody>
          <a:bodyPr wrap="square" rtlCol="0" anchor="t"/>
          <a:lstStyle/>
          <a:p>
            <a:pPr indent="0" marL="0">
              <a:buNone/>
            </a:pPr>
            <a:r>
              <a:rPr lang="en-US" sz="1200" dirty="0">
                <a:solidFill>
                  <a:srgbClr val="000000"/>
                </a:solidFill>
                <a:latin typeface="Courier New" pitchFamily="34" charset="0"/>
                <a:ea typeface="Courier New" pitchFamily="34" charset="-122"/>
                <a:cs typeface="Courier New" pitchFamily="34" charset="-120"/>
              </a:rPr>
              <a:t>150 Bilal Hassan  NORMAL  →  180 Ayesha Shah  NORMAL  →  250 Zara Iqbal  NORMAL  →  320 Kamran Mirza  NORMAL  →  400 Nadia Baig  NORMAL</a:t>
            </a:r>
            <a:endParaRPr lang="en-US" sz="1200" dirty="0"/>
          </a:p>
        </p:txBody>
      </p:sp>
      <p:sp>
        <p:nvSpPr>
          <p:cNvPr id="11" name="Text 9"/>
          <p:cNvSpPr/>
          <p:nvPr/>
        </p:nvSpPr>
        <p:spPr>
          <a:xfrm>
            <a:off x="274320" y="2212848"/>
            <a:ext cx="8595360" cy="274320"/>
          </a:xfrm>
          <a:prstGeom prst="rect">
            <a:avLst/>
          </a:prstGeom>
          <a:noFill/>
          <a:ln/>
        </p:spPr>
        <p:txBody>
          <a:bodyPr wrap="square" rtlCol="0" anchor="ctr"/>
          <a:lstStyle/>
          <a:p>
            <a:pPr indent="0" marL="0">
              <a:buNone/>
            </a:pPr>
            <a:r>
              <a:rPr lang="en-US" sz="1300" b="1" dirty="0">
                <a:solidFill>
                  <a:srgbClr val="8B0000"/>
                </a:solidFill>
                <a:latin typeface="Arial" pitchFamily="34" charset="0"/>
                <a:ea typeface="Arial" pitchFamily="34" charset="-122"/>
                <a:cs typeface="Arial" pitchFamily="34" charset="-120"/>
              </a:rPr>
              <a:t>AVL Inorder  —  Emergency / Urgent sorted by priority:</a:t>
            </a:r>
            <a:endParaRPr lang="en-US" sz="1300" dirty="0"/>
          </a:p>
        </p:txBody>
      </p:sp>
      <p:sp>
        <p:nvSpPr>
          <p:cNvPr id="12" name="Shape 10"/>
          <p:cNvSpPr/>
          <p:nvPr/>
        </p:nvSpPr>
        <p:spPr>
          <a:xfrm>
            <a:off x="274320" y="2505456"/>
            <a:ext cx="8595360" cy="1078992"/>
          </a:xfrm>
          <a:prstGeom prst="rect">
            <a:avLst/>
          </a:prstGeom>
          <a:solidFill>
            <a:srgbClr val="EEEEEE"/>
          </a:solidFill>
          <a:ln w="12700">
            <a:solidFill>
              <a:srgbClr val="000000"/>
            </a:solidFill>
            <a:prstDash val="solid"/>
          </a:ln>
        </p:spPr>
      </p:sp>
      <p:sp>
        <p:nvSpPr>
          <p:cNvPr id="13" name="Text 11"/>
          <p:cNvSpPr/>
          <p:nvPr/>
        </p:nvSpPr>
        <p:spPr>
          <a:xfrm>
            <a:off x="347472" y="2560320"/>
            <a:ext cx="8449056" cy="969264"/>
          </a:xfrm>
          <a:prstGeom prst="rect">
            <a:avLst/>
          </a:prstGeom>
          <a:noFill/>
          <a:ln/>
        </p:spPr>
        <p:txBody>
          <a:bodyPr wrap="square" rtlCol="0" anchor="t"/>
          <a:lstStyle/>
          <a:p>
            <a:pPr indent="0" marL="0">
              <a:buNone/>
            </a:pPr>
            <a:r>
              <a:rPr lang="en-US" sz="1200" dirty="0">
                <a:solidFill>
                  <a:srgbClr val="000000"/>
                </a:solidFill>
                <a:latin typeface="Courier New" pitchFamily="34" charset="0"/>
                <a:ea typeface="Courier New" pitchFamily="34" charset="-122"/>
                <a:cs typeface="Courier New" pitchFamily="34" charset="-120"/>
              </a:rPr>
              <a:t> 89  Usman Tariq    EMERGENCY</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130  Hassan Ali     EMERGENCY</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205  Sana Malik     EMERGENCY</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275  Imran Sheikh   EMERGENCY</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101  Ahmed Raza     URGENT</a:t>
            </a:r>
            <a:endParaRPr lang="en-US" sz="1200" dirty="0"/>
          </a:p>
          <a:p>
            <a:pPr indent="0" marL="0">
              <a:buNone/>
            </a:pPr>
            <a:r>
              <a:rPr lang="en-US" sz="1200" dirty="0">
                <a:solidFill>
                  <a:srgbClr val="000000"/>
                </a:solidFill>
                <a:latin typeface="Courier New" pitchFamily="34" charset="0"/>
                <a:ea typeface="Courier New" pitchFamily="34" charset="-122"/>
                <a:cs typeface="Courier New" pitchFamily="34" charset="-120"/>
              </a:rPr>
              <a:t>310  Fatima Noor    URGENT</a:t>
            </a:r>
            <a:endParaRPr lang="en-US" sz="1200" dirty="0"/>
          </a:p>
        </p:txBody>
      </p:sp>
      <p:sp>
        <p:nvSpPr>
          <p:cNvPr id="14" name="Shape 12"/>
          <p:cNvSpPr/>
          <p:nvPr/>
        </p:nvSpPr>
        <p:spPr>
          <a:xfrm>
            <a:off x="274320" y="3675888"/>
            <a:ext cx="8595360" cy="475488"/>
          </a:xfrm>
          <a:prstGeom prst="rect">
            <a:avLst/>
          </a:prstGeom>
          <a:solidFill>
            <a:srgbClr val="EEEEEE"/>
          </a:solidFill>
          <a:ln w="12700">
            <a:solidFill>
              <a:srgbClr val="1A365D"/>
            </a:solidFill>
            <a:prstDash val="solid"/>
          </a:ln>
        </p:spPr>
      </p:sp>
      <p:sp>
        <p:nvSpPr>
          <p:cNvPr id="15" name="Text 13"/>
          <p:cNvSpPr/>
          <p:nvPr/>
        </p:nvSpPr>
        <p:spPr>
          <a:xfrm>
            <a:off x="365760" y="3694176"/>
            <a:ext cx="8412480" cy="420624"/>
          </a:xfrm>
          <a:prstGeom prst="rect">
            <a:avLst/>
          </a:prstGeom>
          <a:noFill/>
          <a:ln/>
        </p:spPr>
        <p:txBody>
          <a:bodyPr wrap="square" rtlCol="0" anchor="ctr"/>
          <a:lstStyle/>
          <a:p>
            <a:pPr indent="0" marL="0">
              <a:buNone/>
            </a:pPr>
            <a:r>
              <a:rPr lang="en-US" sz="1300" b="1" dirty="0">
                <a:solidFill>
                  <a:srgbClr val="1A365D"/>
                </a:solidFill>
                <a:latin typeface="Arial" pitchFamily="34" charset="0"/>
                <a:ea typeface="Arial" pitchFamily="34" charset="-122"/>
                <a:cs typeface="Arial" pitchFamily="34" charset="-120"/>
              </a:rPr>
              <a:t>All EMERGENCY patients appear BEFORE URGENT — automatic triage order from AVL key design. No extra sorting step.</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65D"/>
          </a:solidFill>
          <a:ln w="12700">
            <a:solidFill>
              <a:srgbClr val="1A365D"/>
            </a:solidFill>
            <a:prstDash val="solid"/>
          </a:ln>
        </p:spPr>
      </p:sp>
      <p:sp>
        <p:nvSpPr>
          <p:cNvPr id="3" name="Text 1"/>
          <p:cNvSpPr/>
          <p:nvPr/>
        </p:nvSpPr>
        <p:spPr>
          <a:xfrm>
            <a:off x="228600" y="91440"/>
            <a:ext cx="86868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Results &amp; Performance</a:t>
            </a:r>
            <a:endParaRPr lang="en-US" sz="2800" dirty="0"/>
          </a:p>
        </p:txBody>
      </p:sp>
      <p:sp>
        <p:nvSpPr>
          <p:cNvPr id="4" name="Shape 2"/>
          <p:cNvSpPr/>
          <p:nvPr/>
        </p:nvSpPr>
        <p:spPr>
          <a:xfrm>
            <a:off x="0" y="685800"/>
            <a:ext cx="9144000" cy="54864"/>
          </a:xfrm>
          <a:prstGeom prst="rect">
            <a:avLst/>
          </a:prstGeom>
          <a:solidFill>
            <a:srgbClr val="000000"/>
          </a:solidFill>
          <a:ln w="12700">
            <a:solidFill>
              <a:srgbClr val="000000"/>
            </a:solidFill>
            <a:prstDash val="solid"/>
          </a:ln>
        </p:spPr>
      </p:sp>
      <p:sp>
        <p:nvSpPr>
          <p:cNvPr id="5" name="Shape 3"/>
          <p:cNvSpPr/>
          <p:nvPr/>
        </p:nvSpPr>
        <p:spPr>
          <a:xfrm>
            <a:off x="0" y="4937760"/>
            <a:ext cx="9144000" cy="210312"/>
          </a:xfrm>
          <a:prstGeom prst="rect">
            <a:avLst/>
          </a:prstGeom>
          <a:solidFill>
            <a:srgbClr val="1A365D"/>
          </a:solidFill>
          <a:ln w="12700">
            <a:solidFill>
              <a:srgbClr val="1A365D"/>
            </a:solidFill>
            <a:prstDash val="solid"/>
          </a:ln>
        </p:spPr>
      </p:sp>
      <p:sp>
        <p:nvSpPr>
          <p:cNvPr id="6" name="Text 4"/>
          <p:cNvSpPr/>
          <p:nvPr/>
        </p:nvSpPr>
        <p:spPr>
          <a:xfrm>
            <a:off x="182880" y="4956048"/>
            <a:ext cx="8778240" cy="173736"/>
          </a:xfrm>
          <a:prstGeom prst="rect">
            <a:avLst/>
          </a:prstGeom>
          <a:noFill/>
          <a:ln/>
        </p:spPr>
        <p:txBody>
          <a:bodyPr wrap="square" lIns="0" tIns="0" rIns="0" bIns="0" rtlCol="0" anchor="ctr"/>
          <a:lstStyle/>
          <a:p>
            <a:pPr indent="0" marL="0">
              <a:buNone/>
            </a:pPr>
            <a:r>
              <a:rPr lang="en-US" sz="900" dirty="0">
                <a:solidFill>
                  <a:srgbClr val="CCDDEE"/>
                </a:solidFill>
                <a:latin typeface="Arial" pitchFamily="34" charset="0"/>
                <a:ea typeface="Arial" pitchFamily="34" charset="-122"/>
                <a:cs typeface="Arial" pitchFamily="34" charset="-120"/>
              </a:rPr>
              <a:t>UET Lahore  |  CMPE 212  |  Hospital Patient Management System  |  Session 2024-2025</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28600" y="804672"/>
          <a:ext cx="8686800" cy="914400"/>
        </p:xfrm>
        <a:graphic>
          <a:graphicData uri="http://schemas.openxmlformats.org/drawingml/2006/table">
            <a:tbl>
              <a:tblPr/>
              <a:tblGrid>
                <a:gridCol w="2560320"/>
                <a:gridCol w="2743200"/>
                <a:gridCol w="2743200"/>
              </a:tblGrid>
              <a:tr h="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Operation</a:t>
                      </a:r>
                      <a:endParaRPr lang="en-US" sz="13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888888"/>
                      </a:solidFill>
                      <a:prstDash val="solid"/>
                      <a:round/>
                      <a:headEnd type="none" w="med" len="med"/>
                      <a:tailEnd type="none" w="med" len="med"/>
                    </a:lnT>
                    <a:lnB w="0" cap="flat" cmpd="sng" algn="ctr">
                      <a:noFill/>
                    </a:lnB>
                    <a:solidFill>
                      <a:srgbClr val="1A365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BST (Normal)</a:t>
                      </a:r>
                      <a:endParaRPr lang="en-US" sz="13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888888"/>
                      </a:solidFill>
                      <a:prstDash val="solid"/>
                      <a:round/>
                      <a:headEnd type="none" w="med" len="med"/>
                      <a:tailEnd type="none" w="med" len="med"/>
                    </a:lnT>
                    <a:lnB w="0" cap="flat" cmpd="sng" algn="ctr">
                      <a:noFill/>
                    </a:lnB>
                    <a:solidFill>
                      <a:srgbClr val="1A365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AVL (Emergency)</a:t>
                      </a:r>
                      <a:endParaRPr lang="en-US" sz="13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888888"/>
                      </a:solidFill>
                      <a:prstDash val="solid"/>
                      <a:round/>
                      <a:headEnd type="none" w="med" len="med"/>
                      <a:tailEnd type="none" w="med" len="med"/>
                    </a:lnT>
                    <a:lnB w="0" cap="flat" cmpd="sng" algn="ctr">
                      <a:noFill/>
                    </a:lnB>
                    <a:solidFill>
                      <a:srgbClr val="1A5C2E"/>
                    </a:solidFill>
                  </a:tcPr>
                </a:tc>
              </a:tr>
              <a:tr h="0">
                <a:tc>
                  <a:txBody>
                    <a:bodyPr/>
                    <a:lstStyle/>
                    <a:p>
                      <a:pPr algn="ctr" indent="0" marL="0">
                        <a:buNone/>
                      </a:pPr>
                      <a:r>
                        <a:rPr lang="en-US" sz="1200" b="1" dirty="0">
                          <a:solidFill>
                            <a:srgbClr val="1A365D"/>
                          </a:solidFill>
                          <a:latin typeface="Arial" pitchFamily="34" charset="0"/>
                          <a:ea typeface="Arial" pitchFamily="34" charset="-122"/>
                          <a:cs typeface="Arial" pitchFamily="34" charset="-120"/>
                        </a:rPr>
                        <a:t>Insert</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O(log n) avg</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1A5C2E"/>
                          </a:solidFill>
                          <a:latin typeface="Arial" pitchFamily="34" charset="0"/>
                          <a:ea typeface="Arial" pitchFamily="34" charset="-122"/>
                          <a:cs typeface="Arial" pitchFamily="34" charset="-120"/>
                        </a:rPr>
                        <a:t>O(log n) guaranteed</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8F5E9"/>
                    </a:solidFill>
                  </a:tcPr>
                </a:tc>
              </a:tr>
              <a:tr h="0">
                <a:tc>
                  <a:txBody>
                    <a:bodyPr/>
                    <a:lstStyle/>
                    <a:p>
                      <a:pPr algn="ctr" indent="0" marL="0">
                        <a:buNone/>
                      </a:pPr>
                      <a:r>
                        <a:rPr lang="en-US" sz="1200" b="1" dirty="0">
                          <a:solidFill>
                            <a:srgbClr val="1A365D"/>
                          </a:solidFill>
                          <a:latin typeface="Arial" pitchFamily="34" charset="0"/>
                          <a:ea typeface="Arial" pitchFamily="34" charset="-122"/>
                          <a:cs typeface="Arial" pitchFamily="34" charset="-120"/>
                        </a:rPr>
                        <a:t>Delete</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O(log n) avg</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200" dirty="0">
                          <a:solidFill>
                            <a:srgbClr val="1A5C2E"/>
                          </a:solidFill>
                          <a:latin typeface="Arial" pitchFamily="34" charset="0"/>
                          <a:ea typeface="Arial" pitchFamily="34" charset="-122"/>
                          <a:cs typeface="Arial" pitchFamily="34" charset="-120"/>
                        </a:rPr>
                        <a:t>O(log n) guaranteed</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0FAF0"/>
                    </a:solidFill>
                  </a:tcPr>
                </a:tc>
              </a:tr>
              <a:tr h="0">
                <a:tc>
                  <a:txBody>
                    <a:bodyPr/>
                    <a:lstStyle/>
                    <a:p>
                      <a:pPr algn="ctr" indent="0" marL="0">
                        <a:buNone/>
                      </a:pPr>
                      <a:r>
                        <a:rPr lang="en-US" sz="1200" b="1" dirty="0">
                          <a:solidFill>
                            <a:srgbClr val="1A365D"/>
                          </a:solidFill>
                          <a:latin typeface="Arial" pitchFamily="34" charset="0"/>
                          <a:ea typeface="Arial" pitchFamily="34" charset="-122"/>
                          <a:cs typeface="Arial" pitchFamily="34" charset="-120"/>
                        </a:rPr>
                        <a:t>Search by ID</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O(log n) avg</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8B0000"/>
                          </a:solidFill>
                          <a:latin typeface="Arial" pitchFamily="34" charset="0"/>
                          <a:ea typeface="Arial" pitchFamily="34" charset="-122"/>
                          <a:cs typeface="Arial" pitchFamily="34" charset="-120"/>
                        </a:rPr>
                        <a:t>O(n) — full scan</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8F5E9"/>
                    </a:solidFill>
                  </a:tcPr>
                </a:tc>
              </a:tr>
              <a:tr h="0">
                <a:tc>
                  <a:txBody>
                    <a:bodyPr/>
                    <a:lstStyle/>
                    <a:p>
                      <a:pPr algn="ctr" indent="0" marL="0">
                        <a:buNone/>
                      </a:pPr>
                      <a:r>
                        <a:rPr lang="en-US" sz="1200" b="1" dirty="0">
                          <a:solidFill>
                            <a:srgbClr val="1A365D"/>
                          </a:solidFill>
                          <a:latin typeface="Arial" pitchFamily="34" charset="0"/>
                          <a:ea typeface="Arial" pitchFamily="34" charset="-122"/>
                          <a:cs typeface="Arial" pitchFamily="34" charset="-120"/>
                        </a:rPr>
                        <a:t>Priority listing</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N/A</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200" dirty="0">
                          <a:solidFill>
                            <a:srgbClr val="8B0000"/>
                          </a:solidFill>
                          <a:latin typeface="Arial" pitchFamily="34" charset="0"/>
                          <a:ea typeface="Arial" pitchFamily="34" charset="-122"/>
                          <a:cs typeface="Arial" pitchFamily="34" charset="-120"/>
                        </a:rPr>
                        <a:t>O(n) — inorder only</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0FAF0"/>
                    </a:solidFill>
                  </a:tcPr>
                </a:tc>
              </a:tr>
              <a:tr h="0">
                <a:tc>
                  <a:txBody>
                    <a:bodyPr/>
                    <a:lstStyle/>
                    <a:p>
                      <a:pPr algn="ctr" indent="0" marL="0">
                        <a:buNone/>
                      </a:pPr>
                      <a:r>
                        <a:rPr lang="en-US" sz="1200" b="1" dirty="0">
                          <a:solidFill>
                            <a:srgbClr val="1A365D"/>
                          </a:solidFill>
                          <a:latin typeface="Arial" pitchFamily="34" charset="0"/>
                          <a:ea typeface="Arial" pitchFamily="34" charset="-122"/>
                          <a:cs typeface="Arial" pitchFamily="34" charset="-120"/>
                        </a:rPr>
                        <a:t>Worst case</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8B0000"/>
                          </a:solidFill>
                          <a:latin typeface="Arial" pitchFamily="34" charset="0"/>
                          <a:ea typeface="Arial" pitchFamily="34" charset="-122"/>
                          <a:cs typeface="Arial" pitchFamily="34" charset="-120"/>
                        </a:rPr>
                        <a:t>O(n) — skewed</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EEEEE"/>
                    </a:solidFill>
                  </a:tcPr>
                </a:tc>
                <a:tc>
                  <a:txBody>
                    <a:bodyPr/>
                    <a:lstStyle/>
                    <a:p>
                      <a:pPr algn="ctr" indent="0" marL="0">
                        <a:buNone/>
                      </a:pPr>
                      <a:r>
                        <a:rPr lang="en-US" sz="1200" dirty="0">
                          <a:solidFill>
                            <a:srgbClr val="1A5C2E"/>
                          </a:solidFill>
                          <a:latin typeface="Arial" pitchFamily="34" charset="0"/>
                          <a:ea typeface="Arial" pitchFamily="34" charset="-122"/>
                          <a:cs typeface="Arial" pitchFamily="34" charset="-120"/>
                        </a:rPr>
                        <a:t>O(log n) always</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E8F5E9"/>
                    </a:solidFill>
                  </a:tcPr>
                </a:tc>
              </a:tr>
              <a:tr h="0">
                <a:tc>
                  <a:txBody>
                    <a:bodyPr/>
                    <a:lstStyle/>
                    <a:p>
                      <a:pPr algn="ctr" indent="0" marL="0">
                        <a:buNone/>
                      </a:pPr>
                      <a:r>
                        <a:rPr lang="en-US" sz="1200" b="1" dirty="0">
                          <a:solidFill>
                            <a:srgbClr val="1A365D"/>
                          </a:solidFill>
                          <a:latin typeface="Arial" pitchFamily="34" charset="0"/>
                          <a:ea typeface="Arial" pitchFamily="34" charset="-122"/>
                          <a:cs typeface="Arial" pitchFamily="34" charset="-120"/>
                        </a:rPr>
                        <a:t>Height  (6 nodes)</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Up to 6</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200" dirty="0">
                          <a:solidFill>
                            <a:srgbClr val="1A5C2E"/>
                          </a:solidFill>
                          <a:latin typeface="Arial" pitchFamily="34" charset="0"/>
                          <a:ea typeface="Arial" pitchFamily="34" charset="-122"/>
                          <a:cs typeface="Arial" pitchFamily="34" charset="-120"/>
                        </a:rPr>
                        <a:t>3 (balanced)</a:t>
                      </a:r>
                      <a:endParaRPr lang="en-US" sz="1200" dirty="0">
                        <a:latin typeface="Arial" charset="0"/>
                        <a:ea typeface="Arial" charset="0"/>
                        <a:cs typeface="Arial" charset="0"/>
                      </a:endParaRPr>
                    </a:p>
                  </a:txBody>
                  <a:tcPr marL="91440" marR="91440" marT="45720" marB="45720">
                    <a:lnL w="0" cap="flat" cmpd="sng" algn="ctr">
                      <a:noFill/>
                    </a:lnL>
                    <a:lnR w="0" cap="flat" cmpd="sng" algn="ctr">
                      <a:noFill/>
                    </a:lnR>
                    <a:lnT w="12700" cap="flat" cmpd="sng" algn="ctr">
                      <a:solidFill>
                        <a:srgbClr val="AAAAAA"/>
                      </a:solidFill>
                      <a:prstDash val="solid"/>
                      <a:round/>
                      <a:headEnd type="none" w="med" len="med"/>
                      <a:tailEnd type="none" w="med" len="med"/>
                    </a:lnT>
                    <a:lnB w="0" cap="flat" cmpd="sng" algn="ctr">
                      <a:noFill/>
                    </a:lnB>
                    <a:solidFill>
                      <a:srgbClr val="F0FAF0"/>
                    </a:solidFill>
                  </a:tcPr>
                </a:tc>
              </a:tr>
            </a:tbl>
          </a:graphicData>
        </a:graphic>
      </p:graphicFrame>
      <p:sp>
        <p:nvSpPr>
          <p:cNvPr id="8" name="Text 5"/>
          <p:cNvSpPr/>
          <p:nvPr/>
        </p:nvSpPr>
        <p:spPr>
          <a:xfrm>
            <a:off x="274320" y="4434840"/>
            <a:ext cx="8595360" cy="347472"/>
          </a:xfrm>
          <a:prstGeom prst="rect">
            <a:avLst/>
          </a:prstGeom>
          <a:noFill/>
          <a:ln/>
        </p:spPr>
        <p:txBody>
          <a:bodyPr wrap="square" rtlCol="0" anchor="ctr"/>
          <a:lstStyle/>
          <a:p>
            <a:pPr indent="0" marL="0">
              <a:buNone/>
            </a:pPr>
            <a:r>
              <a:rPr lang="en-US" sz="1100" dirty="0">
                <a:solidFill>
                  <a:srgbClr val="444444"/>
                </a:solidFill>
                <a:latin typeface="Arial" pitchFamily="34" charset="0"/>
                <a:ea typeface="Arial" pitchFamily="34" charset="-122"/>
                <a:cs typeface="Arial" pitchFamily="34" charset="-120"/>
              </a:rPr>
              <a:t>* Search by ID in AVL is O(n) because ID is the secondary key. Priority-based retrieval uses the tree structure and remains O(log 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65D"/>
          </a:solidFill>
          <a:ln w="12700">
            <a:solidFill>
              <a:srgbClr val="1A365D"/>
            </a:solidFill>
            <a:prstDash val="solid"/>
          </a:ln>
        </p:spPr>
      </p:sp>
      <p:sp>
        <p:nvSpPr>
          <p:cNvPr id="3" name="Text 1"/>
          <p:cNvSpPr/>
          <p:nvPr/>
        </p:nvSpPr>
        <p:spPr>
          <a:xfrm>
            <a:off x="228600" y="91440"/>
            <a:ext cx="86868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Conclusion</a:t>
            </a:r>
            <a:endParaRPr lang="en-US" sz="2800" dirty="0"/>
          </a:p>
        </p:txBody>
      </p:sp>
      <p:sp>
        <p:nvSpPr>
          <p:cNvPr id="4" name="Shape 2"/>
          <p:cNvSpPr/>
          <p:nvPr/>
        </p:nvSpPr>
        <p:spPr>
          <a:xfrm>
            <a:off x="0" y="685800"/>
            <a:ext cx="9144000" cy="54864"/>
          </a:xfrm>
          <a:prstGeom prst="rect">
            <a:avLst/>
          </a:prstGeom>
          <a:solidFill>
            <a:srgbClr val="000000"/>
          </a:solidFill>
          <a:ln w="12700">
            <a:solidFill>
              <a:srgbClr val="000000"/>
            </a:solidFill>
            <a:prstDash val="solid"/>
          </a:ln>
        </p:spPr>
      </p:sp>
      <p:sp>
        <p:nvSpPr>
          <p:cNvPr id="5" name="Shape 3"/>
          <p:cNvSpPr/>
          <p:nvPr/>
        </p:nvSpPr>
        <p:spPr>
          <a:xfrm>
            <a:off x="0" y="4937760"/>
            <a:ext cx="9144000" cy="210312"/>
          </a:xfrm>
          <a:prstGeom prst="rect">
            <a:avLst/>
          </a:prstGeom>
          <a:solidFill>
            <a:srgbClr val="1A365D"/>
          </a:solidFill>
          <a:ln w="12700">
            <a:solidFill>
              <a:srgbClr val="1A365D"/>
            </a:solidFill>
            <a:prstDash val="solid"/>
          </a:ln>
        </p:spPr>
      </p:sp>
      <p:sp>
        <p:nvSpPr>
          <p:cNvPr id="6" name="Text 4"/>
          <p:cNvSpPr/>
          <p:nvPr/>
        </p:nvSpPr>
        <p:spPr>
          <a:xfrm>
            <a:off x="182880" y="4956048"/>
            <a:ext cx="8778240" cy="173736"/>
          </a:xfrm>
          <a:prstGeom prst="rect">
            <a:avLst/>
          </a:prstGeom>
          <a:noFill/>
          <a:ln/>
        </p:spPr>
        <p:txBody>
          <a:bodyPr wrap="square" lIns="0" tIns="0" rIns="0" bIns="0" rtlCol="0" anchor="ctr"/>
          <a:lstStyle/>
          <a:p>
            <a:pPr indent="0" marL="0">
              <a:buNone/>
            </a:pPr>
            <a:r>
              <a:rPr lang="en-US" sz="900" dirty="0">
                <a:solidFill>
                  <a:srgbClr val="CCDDEE"/>
                </a:solidFill>
                <a:latin typeface="Arial" pitchFamily="34" charset="0"/>
                <a:ea typeface="Arial" pitchFamily="34" charset="-122"/>
                <a:cs typeface="Arial" pitchFamily="34" charset="-120"/>
              </a:rPr>
              <a:t>UET Lahore  |  CMPE 212  |  Hospital Patient Management System  |  Session 2024-2025</a:t>
            </a:r>
            <a:endParaRPr lang="en-US" sz="900" dirty="0"/>
          </a:p>
        </p:txBody>
      </p:sp>
      <p:sp>
        <p:nvSpPr>
          <p:cNvPr id="7" name="Text 5"/>
          <p:cNvSpPr/>
          <p:nvPr/>
        </p:nvSpPr>
        <p:spPr>
          <a:xfrm>
            <a:off x="274320" y="822960"/>
            <a:ext cx="8595360" cy="3200400"/>
          </a:xfrm>
          <a:prstGeom prst="rect">
            <a:avLst/>
          </a:prstGeom>
          <a:noFill/>
          <a:ln/>
        </p:spPr>
        <p:txBody>
          <a:bodyPr wrap="square" rtlCol="0" anchor="t"/>
          <a:lstStyle/>
          <a:p>
            <a:pPr marL="342900" indent="-342900">
              <a:spcAft>
                <a:spcPts val="600"/>
              </a:spcAft>
              <a:buSzPct val="100000"/>
              <a:buChar char="•"/>
            </a:pPr>
            <a:r>
              <a:rPr lang="en-US" sz="1700" dirty="0">
                <a:solidFill>
                  <a:srgbClr val="000000"/>
                </a:solidFill>
                <a:latin typeface="Arial" pitchFamily="34" charset="0"/>
                <a:ea typeface="Arial" pitchFamily="34" charset="-122"/>
                <a:cs typeface="Arial" pitchFamily="34" charset="-120"/>
              </a:rPr>
              <a:t>BST stores NORMAL patients — fast average-case lookup by patient ID</a:t>
            </a:r>
            <a:endParaRPr lang="en-US" sz="1700" dirty="0"/>
          </a:p>
          <a:p>
            <a:pPr marL="342900" indent="-342900">
              <a:spcAft>
                <a:spcPts val="600"/>
              </a:spcAft>
              <a:buSzPct val="100000"/>
              <a:buChar char="•"/>
            </a:pPr>
            <a:r>
              <a:rPr lang="en-US" sz="1700" dirty="0">
                <a:solidFill>
                  <a:srgbClr val="000000"/>
                </a:solidFill>
                <a:latin typeface="Arial" pitchFamily="34" charset="0"/>
                <a:ea typeface="Arial" pitchFamily="34" charset="-122"/>
                <a:cs typeface="Arial" pitchFamily="34" charset="-120"/>
              </a:rPr>
              <a:t>AVL Tree stores EMERGENCY &amp; URGENT — guaranteed O(log n) with priority-based ordering</a:t>
            </a:r>
            <a:endParaRPr lang="en-US" sz="1700" dirty="0"/>
          </a:p>
          <a:p>
            <a:pPr marL="342900" indent="-342900">
              <a:spcAft>
                <a:spcPts val="600"/>
              </a:spcAft>
              <a:buSzPct val="100000"/>
              <a:buChar char="•"/>
            </a:pPr>
            <a:r>
              <a:rPr lang="en-US" sz="1700" dirty="0">
                <a:solidFill>
                  <a:srgbClr val="000000"/>
                </a:solidFill>
                <a:latin typeface="Arial" pitchFamily="34" charset="0"/>
                <a:ea typeface="Arial" pitchFamily="34" charset="-122"/>
                <a:cs typeface="Arial" pitchFamily="34" charset="-120"/>
              </a:rPr>
              <a:t>Composite key (priority, ID) makes inorder traversal produce automatic triage output</a:t>
            </a:r>
            <a:endParaRPr lang="en-US" sz="1700" dirty="0"/>
          </a:p>
          <a:p>
            <a:pPr marL="342900" indent="-342900">
              <a:spcAft>
                <a:spcPts val="600"/>
              </a:spcAft>
              <a:buSzPct val="100000"/>
              <a:buChar char="•"/>
            </a:pPr>
            <a:r>
              <a:rPr lang="en-US" sz="1700" dirty="0">
                <a:solidFill>
                  <a:srgbClr val="000000"/>
                </a:solidFill>
                <a:latin typeface="Arial" pitchFamily="34" charset="0"/>
                <a:ea typeface="Arial" pitchFamily="34" charset="-122"/>
                <a:cs typeface="Arial" pitchFamily="34" charset="-120"/>
              </a:rPr>
              <a:t>All 4 AVL rotation cases implemented and verified — tree stays balanced in every case</a:t>
            </a:r>
            <a:endParaRPr lang="en-US" sz="1700" dirty="0"/>
          </a:p>
          <a:p>
            <a:pPr marL="342900" indent="-342900">
              <a:spcAft>
                <a:spcPts val="600"/>
              </a:spcAft>
              <a:buSzPct val="100000"/>
              <a:buChar char="•"/>
            </a:pPr>
            <a:r>
              <a:rPr lang="en-US" sz="1700" dirty="0">
                <a:solidFill>
                  <a:srgbClr val="000000"/>
                </a:solidFill>
                <a:latin typeface="Arial" pitchFamily="34" charset="0"/>
                <a:ea typeface="Arial" pitchFamily="34" charset="-122"/>
                <a:cs typeface="Arial" pitchFamily="34" charset="-120"/>
              </a:rPr>
              <a:t>Deletion bug resolved — data-only copy prevents double-free memory errors</a:t>
            </a:r>
            <a:endParaRPr lang="en-US" sz="1700" dirty="0"/>
          </a:p>
          <a:p>
            <a:pPr marL="342900" indent="-342900">
              <a:spcAft>
                <a:spcPts val="600"/>
              </a:spcAft>
              <a:buSzPct val="100000"/>
              <a:buChar char="•"/>
            </a:pPr>
            <a:r>
              <a:rPr lang="en-US" sz="1700" dirty="0">
                <a:solidFill>
                  <a:srgbClr val="000000"/>
                </a:solidFill>
                <a:latin typeface="Arial" pitchFamily="34" charset="0"/>
                <a:ea typeface="Arial" pitchFamily="34" charset="-122"/>
                <a:cs typeface="Arial" pitchFamily="34" charset="-120"/>
              </a:rPr>
              <a:t>Modular design: 7 source files, clean separation, easy to extend</a:t>
            </a:r>
            <a:endParaRPr lang="en-US" sz="1700" dirty="0"/>
          </a:p>
        </p:txBody>
      </p:sp>
      <p:sp>
        <p:nvSpPr>
          <p:cNvPr id="8" name="Shape 6"/>
          <p:cNvSpPr/>
          <p:nvPr/>
        </p:nvSpPr>
        <p:spPr>
          <a:xfrm>
            <a:off x="274320" y="3977640"/>
            <a:ext cx="8595360" cy="822960"/>
          </a:xfrm>
          <a:prstGeom prst="rect">
            <a:avLst/>
          </a:prstGeom>
          <a:solidFill>
            <a:srgbClr val="EEEEEE"/>
          </a:solidFill>
          <a:ln w="12700">
            <a:solidFill>
              <a:srgbClr val="1A365D"/>
            </a:solidFill>
            <a:prstDash val="solid"/>
          </a:ln>
        </p:spPr>
      </p:sp>
      <p:sp>
        <p:nvSpPr>
          <p:cNvPr id="9" name="Text 7"/>
          <p:cNvSpPr/>
          <p:nvPr/>
        </p:nvSpPr>
        <p:spPr>
          <a:xfrm>
            <a:off x="457200" y="4005072"/>
            <a:ext cx="2011680" cy="320040"/>
          </a:xfrm>
          <a:prstGeom prst="rect">
            <a:avLst/>
          </a:prstGeom>
          <a:noFill/>
          <a:ln/>
        </p:spPr>
        <p:txBody>
          <a:bodyPr wrap="square" lIns="0" tIns="0" rIns="0" bIns="0" rtlCol="0" anchor="ctr"/>
          <a:lstStyle/>
          <a:p>
            <a:pPr indent="0" marL="0">
              <a:buNone/>
            </a:pPr>
            <a:r>
              <a:rPr lang="en-US" sz="1300" b="1" dirty="0">
                <a:solidFill>
                  <a:srgbClr val="1A365D"/>
                </a:solidFill>
                <a:latin typeface="Arial" pitchFamily="34" charset="0"/>
                <a:ea typeface="Arial" pitchFamily="34" charset="-122"/>
                <a:cs typeface="Arial" pitchFamily="34" charset="-120"/>
              </a:rPr>
              <a:t>Core takeaway:</a:t>
            </a:r>
            <a:endParaRPr lang="en-US" sz="1300" dirty="0"/>
          </a:p>
        </p:txBody>
      </p:sp>
      <p:sp>
        <p:nvSpPr>
          <p:cNvPr id="10" name="Text 8"/>
          <p:cNvSpPr/>
          <p:nvPr/>
        </p:nvSpPr>
        <p:spPr>
          <a:xfrm>
            <a:off x="457200" y="4315968"/>
            <a:ext cx="8229600" cy="411480"/>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Choosing the right data structure for the right problem — and the right key for that structure — is what makes the system efficient and correct.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65D"/>
          </a:solidFill>
          <a:ln w="12700">
            <a:solidFill>
              <a:srgbClr val="1A365D"/>
            </a:solidFill>
            <a:prstDash val="solid"/>
          </a:ln>
        </p:spPr>
      </p:sp>
      <p:sp>
        <p:nvSpPr>
          <p:cNvPr id="3" name="Text 1"/>
          <p:cNvSpPr/>
          <p:nvPr/>
        </p:nvSpPr>
        <p:spPr>
          <a:xfrm>
            <a:off x="228600" y="91440"/>
            <a:ext cx="86868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Thank You</a:t>
            </a:r>
            <a:endParaRPr lang="en-US" sz="2800" dirty="0"/>
          </a:p>
        </p:txBody>
      </p:sp>
      <p:sp>
        <p:nvSpPr>
          <p:cNvPr id="4" name="Shape 2"/>
          <p:cNvSpPr/>
          <p:nvPr/>
        </p:nvSpPr>
        <p:spPr>
          <a:xfrm>
            <a:off x="0" y="685800"/>
            <a:ext cx="9144000" cy="54864"/>
          </a:xfrm>
          <a:prstGeom prst="rect">
            <a:avLst/>
          </a:prstGeom>
          <a:solidFill>
            <a:srgbClr val="000000"/>
          </a:solidFill>
          <a:ln w="12700">
            <a:solidFill>
              <a:srgbClr val="000000"/>
            </a:solidFill>
            <a:prstDash val="solid"/>
          </a:ln>
        </p:spPr>
      </p:sp>
      <p:sp>
        <p:nvSpPr>
          <p:cNvPr id="5" name="Shape 3"/>
          <p:cNvSpPr/>
          <p:nvPr/>
        </p:nvSpPr>
        <p:spPr>
          <a:xfrm>
            <a:off x="1371600" y="1097280"/>
            <a:ext cx="6400800" cy="1828800"/>
          </a:xfrm>
          <a:prstGeom prst="rect">
            <a:avLst/>
          </a:prstGeom>
          <a:solidFill>
            <a:srgbClr val="FFFFFF"/>
          </a:solidFill>
          <a:ln w="12700">
            <a:solidFill>
              <a:srgbClr val="1A365D"/>
            </a:solidFill>
            <a:prstDash val="solid"/>
          </a:ln>
        </p:spPr>
      </p:sp>
      <p:sp>
        <p:nvSpPr>
          <p:cNvPr id="6" name="Text 4"/>
          <p:cNvSpPr/>
          <p:nvPr/>
        </p:nvSpPr>
        <p:spPr>
          <a:xfrm>
            <a:off x="1371600" y="1143000"/>
            <a:ext cx="6400800" cy="1005840"/>
          </a:xfrm>
          <a:prstGeom prst="rect">
            <a:avLst/>
          </a:prstGeom>
          <a:noFill/>
          <a:ln/>
        </p:spPr>
        <p:txBody>
          <a:bodyPr wrap="square" lIns="0" tIns="0" rIns="0" bIns="0" rtlCol="0" anchor="ctr"/>
          <a:lstStyle/>
          <a:p>
            <a:pPr algn="ctr" indent="0" marL="0">
              <a:buNone/>
            </a:pPr>
            <a:r>
              <a:rPr lang="en-US" sz="4800" b="1" dirty="0">
                <a:solidFill>
                  <a:srgbClr val="1A365D"/>
                </a:solidFill>
                <a:latin typeface="Arial" pitchFamily="34" charset="0"/>
                <a:ea typeface="Arial" pitchFamily="34" charset="-122"/>
                <a:cs typeface="Arial" pitchFamily="34" charset="-120"/>
              </a:rPr>
              <a:t>Questions?</a:t>
            </a:r>
            <a:endParaRPr lang="en-US" sz="4800" dirty="0"/>
          </a:p>
        </p:txBody>
      </p:sp>
      <p:sp>
        <p:nvSpPr>
          <p:cNvPr id="7" name="Text 5"/>
          <p:cNvSpPr/>
          <p:nvPr/>
        </p:nvSpPr>
        <p:spPr>
          <a:xfrm>
            <a:off x="1371600" y="2148840"/>
            <a:ext cx="6400800" cy="530352"/>
          </a:xfrm>
          <a:prstGeom prst="rect">
            <a:avLst/>
          </a:prstGeom>
          <a:noFill/>
          <a:ln/>
        </p:spPr>
        <p:txBody>
          <a:bodyPr wrap="square" rtlCol="0" anchor="ctr"/>
          <a:lstStyle/>
          <a:p>
            <a:pPr algn="ctr" indent="0" marL="0">
              <a:buNone/>
            </a:pPr>
            <a:r>
              <a:rPr lang="en-US" sz="1600" dirty="0">
                <a:solidFill>
                  <a:srgbClr val="444444"/>
                </a:solidFill>
                <a:latin typeface="Arial" pitchFamily="34" charset="0"/>
                <a:ea typeface="Arial" pitchFamily="34" charset="-122"/>
                <a:cs typeface="Arial" pitchFamily="34" charset="-120"/>
              </a:rPr>
              <a:t>We are happy to walk through any part of the implementation.</a:t>
            </a:r>
            <a:endParaRPr lang="en-US" sz="1600" dirty="0"/>
          </a:p>
        </p:txBody>
      </p:sp>
      <p:sp>
        <p:nvSpPr>
          <p:cNvPr id="8" name="Shape 6"/>
          <p:cNvSpPr/>
          <p:nvPr/>
        </p:nvSpPr>
        <p:spPr>
          <a:xfrm>
            <a:off x="274320" y="3063240"/>
            <a:ext cx="8595360" cy="1691640"/>
          </a:xfrm>
          <a:prstGeom prst="rect">
            <a:avLst/>
          </a:prstGeom>
          <a:solidFill>
            <a:srgbClr val="FFFFFF"/>
          </a:solidFill>
          <a:ln w="12700">
            <a:solidFill>
              <a:srgbClr val="1A365D"/>
            </a:solidFill>
            <a:prstDash val="solid"/>
          </a:ln>
        </p:spPr>
      </p:sp>
      <p:sp>
        <p:nvSpPr>
          <p:cNvPr id="9" name="Shape 7"/>
          <p:cNvSpPr/>
          <p:nvPr/>
        </p:nvSpPr>
        <p:spPr>
          <a:xfrm>
            <a:off x="274320" y="3063240"/>
            <a:ext cx="8595360" cy="320040"/>
          </a:xfrm>
          <a:prstGeom prst="rect">
            <a:avLst/>
          </a:prstGeom>
          <a:solidFill>
            <a:srgbClr val="1A365D"/>
          </a:solidFill>
          <a:ln w="12700">
            <a:solidFill>
              <a:srgbClr val="1A365D"/>
            </a:solidFill>
            <a:prstDash val="solid"/>
          </a:ln>
        </p:spPr>
      </p:sp>
      <p:sp>
        <p:nvSpPr>
          <p:cNvPr id="10" name="Text 8"/>
          <p:cNvSpPr/>
          <p:nvPr/>
        </p:nvSpPr>
        <p:spPr>
          <a:xfrm>
            <a:off x="274320" y="3063240"/>
            <a:ext cx="85953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Quick Reference</a:t>
            </a:r>
            <a:endParaRPr lang="en-US" sz="1200" dirty="0"/>
          </a:p>
        </p:txBody>
      </p:sp>
      <p:sp>
        <p:nvSpPr>
          <p:cNvPr id="11" name="Text 9"/>
          <p:cNvSpPr/>
          <p:nvPr/>
        </p:nvSpPr>
        <p:spPr>
          <a:xfrm>
            <a:off x="457200" y="3419856"/>
            <a:ext cx="8229600" cy="1234440"/>
          </a:xfrm>
          <a:prstGeom prst="rect">
            <a:avLst/>
          </a:prstGeom>
          <a:noFill/>
          <a:ln/>
        </p:spPr>
        <p:txBody>
          <a:bodyPr wrap="square" rtlCol="0" anchor="t"/>
          <a:lstStyle/>
          <a:p>
            <a:pPr indent="0" marL="0">
              <a:buNone/>
            </a:pPr>
            <a:r>
              <a:rPr lang="en-US" sz="1300" b="1" dirty="0">
                <a:solidFill>
                  <a:srgbClr val="1A365D"/>
                </a:solidFill>
                <a:latin typeface="Arial" pitchFamily="34" charset="0"/>
                <a:ea typeface="Arial" pitchFamily="34" charset="-122"/>
                <a:cs typeface="Arial" pitchFamily="34" charset="-120"/>
              </a:rPr>
              <a:t>BST  </a:t>
            </a:r>
            <a:pPr indent="0" marL="0">
              <a:buNone/>
            </a:pPr>
            <a:r>
              <a:rPr lang="en-US" sz="1300" dirty="0">
                <a:solidFill>
                  <a:srgbClr val="000000"/>
                </a:solidFill>
                <a:latin typeface="Arial" pitchFamily="34" charset="0"/>
                <a:ea typeface="Arial" pitchFamily="34" charset="-122"/>
                <a:cs typeface="Arial" pitchFamily="34" charset="-120"/>
              </a:rPr>
              <a:t>→  Normal patients  |  Key = ID  |  O(log n) avg
</a:t>
            </a:r>
            <a:pPr indent="0" marL="0">
              <a:buNone/>
            </a:pPr>
            <a:r>
              <a:rPr lang="en-US" sz="1300" b="1" dirty="0">
                <a:solidFill>
                  <a:srgbClr val="8B0000"/>
                </a:solidFill>
                <a:latin typeface="Arial" pitchFamily="34" charset="0"/>
                <a:ea typeface="Arial" pitchFamily="34" charset="-122"/>
                <a:cs typeface="Arial" pitchFamily="34" charset="-120"/>
              </a:rPr>
              <a:t>AVL  </a:t>
            </a:r>
            <a:pPr indent="0" marL="0">
              <a:buNone/>
            </a:pPr>
            <a:r>
              <a:rPr lang="en-US" sz="1300" dirty="0">
                <a:solidFill>
                  <a:srgbClr val="000000"/>
                </a:solidFill>
                <a:latin typeface="Arial" pitchFamily="34" charset="0"/>
                <a:ea typeface="Arial" pitchFamily="34" charset="-122"/>
                <a:cs typeface="Arial" pitchFamily="34" charset="-120"/>
              </a:rPr>
              <a:t>→  Emergency + Urgent  |  Key = (priority, ID)  |  O(log n) guaranteed
</a:t>
            </a:r>
            <a:pPr indent="0" marL="0">
              <a:buNone/>
            </a:pPr>
            <a:r>
              <a:rPr lang="en-US" sz="1200" b="1" dirty="0">
                <a:solidFill>
                  <a:srgbClr val="1A5C2E"/>
                </a:solidFill>
                <a:latin typeface="Courier New" pitchFamily="34" charset="0"/>
                <a:ea typeface="Courier New" pitchFamily="34" charset="-122"/>
                <a:cs typeface="Courier New" pitchFamily="34" charset="-120"/>
              </a:rPr>
              <a:t>Compile: </a:t>
            </a:r>
            <a:pPr indent="0" marL="0">
              <a:buNone/>
            </a:pPr>
            <a:r>
              <a:rPr lang="en-US" sz="1200" dirty="0">
                <a:solidFill>
                  <a:srgbClr val="000000"/>
                </a:solidFill>
                <a:latin typeface="Courier New" pitchFamily="34" charset="0"/>
                <a:ea typeface="Courier New" pitchFamily="34" charset="-122"/>
                <a:cs typeface="Courier New" pitchFamily="34" charset="-120"/>
              </a:rPr>
              <a:t>g++ -std=c++17 -o hospital main.cpp Patient.cpp BST.cpp AVL.cpp</a:t>
            </a:r>
            <a:endParaRPr lang="en-US" sz="1300" dirty="0"/>
          </a:p>
        </p:txBody>
      </p:sp>
      <p:sp>
        <p:nvSpPr>
          <p:cNvPr id="12" name="Shape 10"/>
          <p:cNvSpPr/>
          <p:nvPr/>
        </p:nvSpPr>
        <p:spPr>
          <a:xfrm>
            <a:off x="0" y="4937760"/>
            <a:ext cx="9144000" cy="205740"/>
          </a:xfrm>
          <a:prstGeom prst="rect">
            <a:avLst/>
          </a:prstGeom>
          <a:solidFill>
            <a:srgbClr val="1A365D"/>
          </a:solidFill>
          <a:ln w="12700">
            <a:solidFill>
              <a:srgbClr val="1A365D"/>
            </a:solidFill>
            <a:prstDash val="solid"/>
          </a:ln>
        </p:spPr>
      </p:sp>
      <p:sp>
        <p:nvSpPr>
          <p:cNvPr id="13" name="Text 11"/>
          <p:cNvSpPr/>
          <p:nvPr/>
        </p:nvSpPr>
        <p:spPr>
          <a:xfrm>
            <a:off x="182880" y="4946904"/>
            <a:ext cx="8778240" cy="182880"/>
          </a:xfrm>
          <a:prstGeom prst="rect">
            <a:avLst/>
          </a:prstGeom>
          <a:noFill/>
          <a:ln/>
        </p:spPr>
        <p:txBody>
          <a:bodyPr wrap="square" lIns="0" tIns="0" rIns="0" bIns="0" rtlCol="0" anchor="ctr"/>
          <a:lstStyle/>
          <a:p>
            <a:pPr indent="0" marL="0">
              <a:buNone/>
            </a:pPr>
            <a:r>
              <a:rPr lang="en-US" sz="900" dirty="0">
                <a:solidFill>
                  <a:srgbClr val="CCDDEE"/>
                </a:solidFill>
                <a:latin typeface="Arial" pitchFamily="34" charset="0"/>
                <a:ea typeface="Arial" pitchFamily="34" charset="-122"/>
                <a:cs typeface="Arial" pitchFamily="34" charset="-120"/>
              </a:rPr>
              <a:t>UET Lahore  |  CMPE 212  |  Hospital Patient Management System  |  Session 2024-2025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Patient Management System</dc:title>
  <dc:subject>PptxGenJS Presentation</dc:subject>
  <dc:creator>PptxGenJS</dc:creator>
  <cp:lastModifiedBy>PptxGenJS</cp:lastModifiedBy>
  <cp:revision>1</cp:revision>
  <dcterms:created xsi:type="dcterms:W3CDTF">2026-05-29T20:57:59Z</dcterms:created>
  <dcterms:modified xsi:type="dcterms:W3CDTF">2026-05-29T20:57:59Z</dcterms:modified>
</cp:coreProperties>
</file>